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bd61f4887f4e7a" /><Relationship Type="http://schemas.openxmlformats.org/officeDocument/2006/relationships/extended-properties" Target="/docProps/app.xml" Id="R4b43742ebcd947d3" /><Relationship Type="http://schemas.openxmlformats.org/officeDocument/2006/relationships/officeDocument" Target="/ppt/presentation.xml" Id="Re0e8a80f9b3442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157cfa7a354543"/>
  </p:sldMasterIdLst>
  <p:notesMasterIdLst>
    <p:notesMasterId xmlns:r="http://schemas.openxmlformats.org/officeDocument/2006/relationships" r:id="Rb9008d9795574375"/>
  </p:notesMasterIdLst>
  <p:sldIdLst>
    <p:sldId xmlns:r="http://schemas.openxmlformats.org/officeDocument/2006/relationships" id="256" r:id="Rf3c99ec1aaf54993"/>
    <p:sldId xmlns:r="http://schemas.openxmlformats.org/officeDocument/2006/relationships" id="257" r:id="R5f899dda80734b51"/>
    <p:sldId xmlns:r="http://schemas.openxmlformats.org/officeDocument/2006/relationships" id="258" r:id="R77b79fe741b2406e"/>
    <p:sldId xmlns:r="http://schemas.openxmlformats.org/officeDocument/2006/relationships" id="259" r:id="R1ee2b8b0167944a9"/>
    <p:sldId xmlns:r="http://schemas.openxmlformats.org/officeDocument/2006/relationships" id="260" r:id="R9ebe0a84a3304927"/>
    <p:sldId xmlns:r="http://schemas.openxmlformats.org/officeDocument/2006/relationships" id="261" r:id="R442d1a57b6044801"/>
    <p:sldId xmlns:r="http://schemas.openxmlformats.org/officeDocument/2006/relationships" id="262" r:id="R3f37d3dc69ee4ebe"/>
    <p:sldId xmlns:r="http://schemas.openxmlformats.org/officeDocument/2006/relationships" id="263" r:id="R99ff72cab36c4540"/>
    <p:sldId xmlns:r="http://schemas.openxmlformats.org/officeDocument/2006/relationships" id="264" r:id="R7ffb78e5923b4053"/>
    <p:sldId xmlns:r="http://schemas.openxmlformats.org/officeDocument/2006/relationships" id="265" r:id="R3bac6342a03d4975"/>
    <p:sldId xmlns:r="http://schemas.openxmlformats.org/officeDocument/2006/relationships" id="266" r:id="R2e54bc70ad11460d"/>
    <p:sldId xmlns:r="http://schemas.openxmlformats.org/officeDocument/2006/relationships" id="267" r:id="R1dc755b64efb47a4"/>
    <p:sldId xmlns:r="http://schemas.openxmlformats.org/officeDocument/2006/relationships" id="268" r:id="R445f6697c32748a8"/>
    <p:sldId xmlns:r="http://schemas.openxmlformats.org/officeDocument/2006/relationships" id="269" r:id="R3ba7371d7a68447b"/>
    <p:sldId xmlns:r="http://schemas.openxmlformats.org/officeDocument/2006/relationships" id="270" r:id="R1020dfbd8ad442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f6fe691eb34a96" /><Relationship Type="http://schemas.openxmlformats.org/officeDocument/2006/relationships/slideMaster" Target="/ppt/slideMasters/slideMaster1.xml" Id="R8d157cfa7a354543" /><Relationship Type="http://schemas.openxmlformats.org/officeDocument/2006/relationships/notesMaster" Target="/ppt/notesMasters/notesMaster1.xml" Id="Rb9008d9795574375" /><Relationship Type="http://schemas.openxmlformats.org/officeDocument/2006/relationships/presProps" Target="/ppt/presProps.xml" Id="Rb73cdf2b434240f3" /><Relationship Type="http://schemas.openxmlformats.org/officeDocument/2006/relationships/viewProps" Target="/ppt/viewProps.xml" Id="R8c37d52bad344078" /><Relationship Type="http://schemas.openxmlformats.org/officeDocument/2006/relationships/tableStyles" Target="/ppt/tableStyles.xml" Id="R52743c4a3e614e8e" /><Relationship Type="http://schemas.openxmlformats.org/officeDocument/2006/relationships/slide" Target="/ppt/slides/slide1.xml" Id="Rf3c99ec1aaf54993" /><Relationship Type="http://schemas.openxmlformats.org/officeDocument/2006/relationships/slide" Target="/ppt/slides/slide2.xml" Id="R5f899dda80734b51" /><Relationship Type="http://schemas.openxmlformats.org/officeDocument/2006/relationships/slide" Target="/ppt/slides/slide3.xml" Id="R77b79fe741b2406e" /><Relationship Type="http://schemas.openxmlformats.org/officeDocument/2006/relationships/slide" Target="/ppt/slides/slide4.xml" Id="R1ee2b8b0167944a9" /><Relationship Type="http://schemas.openxmlformats.org/officeDocument/2006/relationships/slide" Target="/ppt/slides/slide5.xml" Id="R9ebe0a84a3304927" /><Relationship Type="http://schemas.openxmlformats.org/officeDocument/2006/relationships/slide" Target="/ppt/slides/slide6.xml" Id="R442d1a57b6044801" /><Relationship Type="http://schemas.openxmlformats.org/officeDocument/2006/relationships/slide" Target="/ppt/slides/slide7.xml" Id="R3f37d3dc69ee4ebe" /><Relationship Type="http://schemas.openxmlformats.org/officeDocument/2006/relationships/slide" Target="/ppt/slides/slide8.xml" Id="R99ff72cab36c4540" /><Relationship Type="http://schemas.openxmlformats.org/officeDocument/2006/relationships/slide" Target="/ppt/slides/slide9.xml" Id="R7ffb78e5923b4053" /><Relationship Type="http://schemas.openxmlformats.org/officeDocument/2006/relationships/slide" Target="/ppt/slides/slide10.xml" Id="R3bac6342a03d4975" /><Relationship Type="http://schemas.openxmlformats.org/officeDocument/2006/relationships/slide" Target="/ppt/slides/slide11.xml" Id="R2e54bc70ad11460d" /><Relationship Type="http://schemas.openxmlformats.org/officeDocument/2006/relationships/slide" Target="/ppt/slides/slide12.xml" Id="R1dc755b64efb47a4" /><Relationship Type="http://schemas.openxmlformats.org/officeDocument/2006/relationships/slide" Target="/ppt/slides/slide13.xml" Id="R445f6697c32748a8" /><Relationship Type="http://schemas.openxmlformats.org/officeDocument/2006/relationships/slide" Target="/ppt/slides/slide14.xml" Id="R3ba7371d7a68447b" /><Relationship Type="http://schemas.openxmlformats.org/officeDocument/2006/relationships/slide" Target="/ppt/slides/slide15.xml" Id="R1020dfbd8ad442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0af13457ee4a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2230b5335a4469" /><Relationship Type="http://schemas.openxmlformats.org/officeDocument/2006/relationships/notesMaster" Target="/ppt/notesMasters/notesMaster1.xml" Id="R8f2af80636174b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f16731aa4a4914" /><Relationship Type="http://schemas.openxmlformats.org/officeDocument/2006/relationships/notesMaster" Target="/ppt/notesMasters/notesMaster1.xml" Id="Rea8e670506474b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5a2bb23567453b" /><Relationship Type="http://schemas.openxmlformats.org/officeDocument/2006/relationships/notesMaster" Target="/ppt/notesMasters/notesMaster1.xml" Id="Ra803977f5e4c4a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14a374664e4001" /><Relationship Type="http://schemas.openxmlformats.org/officeDocument/2006/relationships/notesMaster" Target="/ppt/notesMasters/notesMaster1.xml" Id="R16bb5964bfcd4e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e6b73c40ba4b18" /><Relationship Type="http://schemas.openxmlformats.org/officeDocument/2006/relationships/notesMaster" Target="/ppt/notesMasters/notesMaster1.xml" Id="Rbc96c19a55f24c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e8edf0bf8a4971" /><Relationship Type="http://schemas.openxmlformats.org/officeDocument/2006/relationships/notesMaster" Target="/ppt/notesMasters/notesMaster1.xml" Id="R337d6967f52c4f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619c7710a34661" /><Relationship Type="http://schemas.openxmlformats.org/officeDocument/2006/relationships/notesMaster" Target="/ppt/notesMasters/notesMaster1.xml" Id="Rab9631ed753644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62287747044412" /><Relationship Type="http://schemas.openxmlformats.org/officeDocument/2006/relationships/notesMaster" Target="/ppt/notesMasters/notesMaster1.xml" Id="R3cd44ccb69534e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2ff500100d42c9" /><Relationship Type="http://schemas.openxmlformats.org/officeDocument/2006/relationships/notesMaster" Target="/ppt/notesMasters/notesMaster1.xml" Id="R2016aeb0c0c545d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7917e6a78bf42f0" /><Relationship Type="http://schemas.openxmlformats.org/officeDocument/2006/relationships/notesMaster" Target="/ppt/notesMasters/notesMaster1.xml" Id="Rf9aa2ce53ab6462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f8a609099594c87" /><Relationship Type="http://schemas.openxmlformats.org/officeDocument/2006/relationships/notesMaster" Target="/ppt/notesMasters/notesMaster1.xml" Id="Rbd59f8c1fc7b4d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cc59e9806bd480a" /><Relationship Type="http://schemas.openxmlformats.org/officeDocument/2006/relationships/notesMaster" Target="/ppt/notesMasters/notesMaster1.xml" Id="R44b0390239144aa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2973a68a97a4bcc" /><Relationship Type="http://schemas.openxmlformats.org/officeDocument/2006/relationships/notesMaster" Target="/ppt/notesMasters/notesMaster1.xml" Id="R79013cadc471436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9b43d2c99764b6a" /><Relationship Type="http://schemas.openxmlformats.org/officeDocument/2006/relationships/notesMaster" Target="/ppt/notesMasters/notesMaster1.xml" Id="R7cc8ce5b6be240e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d9ee19a542d4166" /><Relationship Type="http://schemas.openxmlformats.org/officeDocument/2006/relationships/notesMaster" Target="/ppt/notesMasters/notesMaster1.xml" Id="R55d7edcbad3146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开场说明：这份 PPT 讲的是 CR 数值资源库怎么用，不依赖 Codex；Trae_cn + DeepSeek-v4 也能完整跑通。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[来源] AGENTS.md、svn_submit.py、项目记忆.md 体现的新旧流程差异；收益表述为协作规则目标（可复算、可追溯、可交接）。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本说明按“先看懂再动手”组织；示例只展示需求写法，执行细节由仓库技能处理。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[来源] 数值策划/工具/README.md（同步、校验与模拟脚本说明）；svn info D:\cashRoyal\share（dev 工作副本 r5521）。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[来源] CR_design_staging 实际目录结构；AGENTS.md（项目记忆必读、Skill 路由）。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[来源] CR_design_staging 实际目录结构；AGENTS.md（项目记忆必读、Skill 路由）。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[来源] .agents/skills 下五个 Skill 的 description；AGENTS.md 的 Skill 路由表。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[来源] 数值策划/工具/README.md；各脚本命令行参数。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[来源] AGENTS.md；数值策划/数值文档/00_规范/数值方案模板.md；svn_submit.py 工作流。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[来源] AGENTS.md（TRAE_CN 应只加载与当前任务相关的 Skill）；.agents/skills 各 Skill 为纯 Markdown；工具脚本为 Python 3 标准库。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示例只展示“需求怎么表达”；具体改表、复算、提交流程由仓库技能与脚本执行，不在此展开。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[来源] AGENTS.md；数值策划/数值文档/00_规范/数值方案模板.md；svn_submit.py 工作流。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该功能为示例性需求；配表设计遵循 00_规范/数值方案模板 与数据源快照结构，新表名与数值需策划确认后落地。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[来源] 数值策划/知识库/项目记忆.md；AGENTS.md 项目记忆规则。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[来源] 数值策划/知识库/项目记忆.md；AGENTS.md 项目记忆规则。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e356eb629a42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0621ae278941ac" /><Relationship Type="http://schemas.openxmlformats.org/officeDocument/2006/relationships/slideLayout" Target="/ppt/slideLayouts/slideLayout1.xml" Id="Rab9a68b69def459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9a68b69def45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3f1adaa14d49be" /><Relationship Type="http://schemas.openxmlformats.org/officeDocument/2006/relationships/notesSlide" Target="/ppt/notesSlides/notesSlide1.xml" Id="Ra75d1791a61248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0ba79d87c48db" /><Relationship Type="http://schemas.openxmlformats.org/officeDocument/2006/relationships/notesSlide" Target="/ppt/notesSlides/notesSlide2.xml" Id="R29f9c6834cae4a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1267cc1cb433a" /><Relationship Type="http://schemas.openxmlformats.org/officeDocument/2006/relationships/notesSlide" Target="/ppt/notesSlides/notesSlide3.xml" Id="Re122d797836048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9f87dff40451b" /><Relationship Type="http://schemas.openxmlformats.org/officeDocument/2006/relationships/notesSlide" Target="/ppt/notesSlides/notesSlide4.xml" Id="R6569f3aa62da4e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b7ee1c52e47ab" /><Relationship Type="http://schemas.openxmlformats.org/officeDocument/2006/relationships/notesSlide" Target="/ppt/notesSlides/notesSlide5.xml" Id="Rb749d2a5126e45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cedd883d144ad" /><Relationship Type="http://schemas.openxmlformats.org/officeDocument/2006/relationships/notesSlide" Target="/ppt/notesSlides/notesSlide6.xml" Id="Red47e061740a43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762bd7daa42b9" /><Relationship Type="http://schemas.openxmlformats.org/officeDocument/2006/relationships/notesSlide" Target="/ppt/notesSlides/notesSlide7.xml" Id="Rce373efff0bd4f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be9e4aef443cf" /><Relationship Type="http://schemas.openxmlformats.org/officeDocument/2006/relationships/notesSlide" Target="/ppt/notesSlides/notesSlide8.xml" Id="Rbc99a1a967cf4f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211dffe254fe3" /><Relationship Type="http://schemas.openxmlformats.org/officeDocument/2006/relationships/notesSlide" Target="/ppt/notesSlides/notesSlide9.xml" Id="R784b76ce60c342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13ff41e3749e8" /><Relationship Type="http://schemas.openxmlformats.org/officeDocument/2006/relationships/notesSlide" Target="/ppt/notesSlides/notesSlide10.xml" Id="Rfff963a40b6144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12586b01848a5" /><Relationship Type="http://schemas.openxmlformats.org/officeDocument/2006/relationships/notesSlide" Target="/ppt/notesSlides/notesSlide11.xml" Id="Rb74d1a1b6a3b41b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0014a44d94b55" /><Relationship Type="http://schemas.openxmlformats.org/officeDocument/2006/relationships/notesSlide" Target="/ppt/notesSlides/notesSlide12.xml" Id="R8c45f05b2fc4421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ec4ea975994eb6" /><Relationship Type="http://schemas.openxmlformats.org/officeDocument/2006/relationships/notesSlide" Target="/ppt/notesSlides/notesSlide13.xml" Id="R650acc07a6c8466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d8d449fb44d2d" /><Relationship Type="http://schemas.openxmlformats.org/officeDocument/2006/relationships/notesSlide" Target="/ppt/notesSlides/notesSlide14.xml" Id="Rff4784225a1c4cc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8003c0c1a4fb8" /><Relationship Type="http://schemas.openxmlformats.org/officeDocument/2006/relationships/notesSlide" Target="/ppt/notesSlides/notesSlide15.xml" Id="Rd175c8ea832f4e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67746EEF-9E26-4E44-A56A-D3287892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914400"/>
            <a:ext cx="8572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3C5FD"/>
                </a:solidFill>
                <a:latin typeface="Helvetica Neue"/>
                <a:ea typeface="Helvetica Neue"/>
                <a:cs typeface="Helvetica Neue"/>
              </a:defRPr>
            </a:pPr>
            <a:r>
              <a:t>CR 数值策划资源库 · 使用说明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F412CD7-1FA9-4C95-A230-3F4ED380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19250"/>
            <a:ext cx="10953750" cy="2476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从环境搭建到提交配置</a:t>
            </a:r>
          </a:p>
        </p:txBody>
      </p:sp>
      <p:sp>
        <p:nvSpPr>
          <p:cNvPr id="3" name="cover-bar">
            <a:extLst xmlns:a="http://schemas.openxmlformats.org/drawingml/2006/main">
              <a:ext uri="{FF2B5EF4-FFF2-40B4-BE49-F238E27FC236}">
                <a16:creationId xmlns:a16="http://schemas.microsoft.com/office/drawing/2014/main" id="{5FEF781C-AC65-4718-B783-8D8D34D6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419600"/>
            <a:ext cx="1333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cover-sub">
            <a:extLst xmlns:a="http://schemas.openxmlformats.org/drawingml/2006/main">
              <a:ext uri="{FF2B5EF4-FFF2-40B4-BE49-F238E27FC236}">
                <a16:creationId xmlns:a16="http://schemas.microsoft.com/office/drawing/2014/main" id="{866D0420-C9C6-4AF4-A7EE-8F4F697E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14900"/>
            <a:ext cx="9525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t>面向策划与制作人：Codex 与 Trae_cn + DeepSeek 都可用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t>规则、技能和脚本都在仓库里，不绑定任何客户端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t>最后一章是一份可以亲手复现的完整示例</a:t>
            </a:r>
          </a:p>
        </p:txBody>
      </p:sp>
      <p:sp>
        <p:nvSpPr>
          <p:cNvPr id="5" name="cover-foot">
            <a:extLst xmlns:a="http://schemas.openxmlformats.org/drawingml/2006/main">
              <a:ext uri="{FF2B5EF4-FFF2-40B4-BE49-F238E27FC236}">
                <a16:creationId xmlns:a16="http://schemas.microsoft.com/office/drawing/2014/main" id="{CF30C963-D2B6-44C8-91F8-E6664D11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286500"/>
            <a:ext cx="571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t>CR_design · 数值策划资源库 · 2026-08</a:t>
            </a:r>
          </a:p>
        </p:txBody>
      </p:sp>
    </p:spTree>
    <p:extLst>
      <p:ext uri="{BB962C8B-B14F-4D97-AF65-F5344CB8AC3E}">
        <p14:creationId xmlns:p14="http://schemas.microsoft.com/office/powerpoint/2010/main" val="35882130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-8">
            <a:extLst xmlns:a="http://schemas.openxmlformats.org/drawingml/2006/main">
              <a:ext uri="{FF2B5EF4-FFF2-40B4-BE49-F238E27FC236}">
                <a16:creationId xmlns:a16="http://schemas.microsoft.com/office/drawing/2014/main" id="{18960AEF-9BE0-41F4-8F03-23C040BD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5750"/>
            <a:ext cx="5334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t>为什么这么做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1BC0A134-6553-4692-815A-3AC080F3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71500"/>
            <a:ext cx="11404568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对比旧流程：变化在哪里</a:t>
            </a:r>
          </a:p>
        </p:txBody>
      </p:sp>
      <p:sp>
        <p:nvSpPr>
          <p:cNvPr id="3" name="rule-8">
            <a:extLst xmlns:a="http://schemas.openxmlformats.org/drawingml/2006/main">
              <a:ext uri="{FF2B5EF4-FFF2-40B4-BE49-F238E27FC236}">
                <a16:creationId xmlns:a16="http://schemas.microsoft.com/office/drawing/2014/main" id="{9AE56F22-1C10-4AFB-88F4-6FD81BC0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11404568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accent-8">
            <a:extLst xmlns:a="http://schemas.openxmlformats.org/drawingml/2006/main">
              <a:ext uri="{FF2B5EF4-FFF2-40B4-BE49-F238E27FC236}">
                <a16:creationId xmlns:a16="http://schemas.microsoft.com/office/drawing/2014/main" id="{D31596B0-432E-4D03-A728-8A7C684A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47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footer-left-8">
            <a:extLst xmlns:a="http://schemas.openxmlformats.org/drawingml/2006/main">
              <a:ext uri="{FF2B5EF4-FFF2-40B4-BE49-F238E27FC236}">
                <a16:creationId xmlns:a16="http://schemas.microsoft.com/office/drawing/2014/main" id="{B5A1B1B7-6873-4507-825B-14B2907B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96050"/>
            <a:ext cx="419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t>CR 数值策划资源库 · 使用说明</a:t>
            </a:r>
          </a:p>
        </p:txBody>
      </p:sp>
      <p:sp>
        <p:nvSpPr>
          <p:cNvPr id="6" name="footer-right-8">
            <a:extLst xmlns:a="http://schemas.openxmlformats.org/drawingml/2006/main">
              <a:ext uri="{FF2B5EF4-FFF2-40B4-BE49-F238E27FC236}">
                <a16:creationId xmlns:a16="http://schemas.microsoft.com/office/drawing/2014/main" id="{CF661279-E03E-495B-BF26-0948D4F0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438900"/>
            <a:ext cx="518922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7" name="compare-intro">
            <a:extLst xmlns:a="http://schemas.openxmlformats.org/drawingml/2006/main">
              <a:ext uri="{FF2B5EF4-FFF2-40B4-BE49-F238E27FC236}">
                <a16:creationId xmlns:a16="http://schemas.microsoft.com/office/drawing/2014/main" id="{9B129684-BBA5-4C3E-8208-FEA8F07E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790700"/>
            <a:ext cx="11404568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t>同样的需求，之前靠口头交接和手工改表，现在全部落到仓库可复算</a:t>
            </a:r>
          </a:p>
        </p:txBody>
      </p:sp>
      <p:sp>
        <p:nvSpPr>
          <p:cNvPr id="8" name="compare-why-bg">
            <a:extLst xmlns:a="http://schemas.openxmlformats.org/drawingml/2006/main">
              <a:ext uri="{FF2B5EF4-FFF2-40B4-BE49-F238E27FC236}">
                <a16:creationId xmlns:a16="http://schemas.microsoft.com/office/drawing/2014/main" id="{702BE94E-AC91-40C4-95B6-723F7A62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62650"/>
            <a:ext cx="11404568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compare-why">
            <a:extLst xmlns:a="http://schemas.openxmlformats.org/drawingml/2006/main">
              <a:ext uri="{FF2B5EF4-FFF2-40B4-BE49-F238E27FC236}">
                <a16:creationId xmlns:a16="http://schemas.microsoft.com/office/drawing/2014/main" id="{1D6B649A-65EE-4009-AC3E-7EAC1690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62650"/>
            <a:ext cx="11404568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为什么要这么做：把“凭经验改数”变成“可复算、可追溯、可交接”</a:t>
            </a:r>
          </a:p>
        </p:txBody>
      </p:sp>
      <p:graphicFrame>
        <p:nvGraphicFramePr>
          <p:cNvPr id="22" name="表格 19"/>
          <p:cNvGraphicFramePr/>
          <p:nvPr/>
        </p:nvGraphicFramePr>
        <p:xfrm>
          <a:off xmlns:a="http://schemas.openxmlformats.org/drawingml/2006/main" x="393668" y="2495550"/>
          <a:ext xmlns:a="http://schemas.openxmlformats.org/drawingml/2006/main" cx="11404568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286000"/>
                <a:gridCol w="4552950"/>
                <a:gridCol w="4562475"/>
              </a:tblGrid>
              <a:tr h="5238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维度</a:t>
                      </a:r>
                      <a:endParaRPr sz="1275" b="1">
                        <a:solidFill>
                          <a:srgbClr val="FFFFFF"/>
                        </a:solidFill>
                      </a:endParaRPr>
                    </a:p>
                  </a:txBody>
                  <a:tcPr marL="95250" marR="95250" marT="47625" marB="476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之前</a:t>
                      </a:r>
                      <a:endParaRPr sz="1275" b="1">
                        <a:solidFill>
                          <a:srgbClr val="FFFFFF"/>
                        </a:solidFill>
                      </a:endParaRPr>
                    </a:p>
                  </a:txBody>
                  <a:tcPr marL="95250" marR="95250" marT="47625" marB="476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现在</a:t>
                      </a:r>
                      <a:endParaRPr sz="1275" b="1">
                        <a:solidFill>
                          <a:srgbClr val="FFFFFF"/>
                        </a:solidFill>
                      </a:endParaRPr>
                    </a:p>
                  </a:txBody>
                  <a:tcPr marL="95250" marR="95250" marT="47625" marB="47625">
                    <a:solidFill>
                      <a:srgbClr val="0F172A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需求与口径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口头/聊天记录，存在个人电脑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一句话需求 + 模板，落项目记忆可追溯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改配置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直接改 Excel 源表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只改程序配置导出快照，源表只读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体验验证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主观估算，无法复现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Python 复算 + HTML 报告，可复跑比较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提交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直接 svn commit，凭记忆说明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svn_submit 演练 → 校验 → 提交 → rXXXX 证据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交接续接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换人/换工具重新交代背景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读 AGENTS.md + 项目记忆即可续接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565365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eyebrow-2">
            <a:extLst xmlns:a="http://schemas.openxmlformats.org/drawingml/2006/main">
              <a:ext uri="{FF2B5EF4-FFF2-40B4-BE49-F238E27FC236}">
                <a16:creationId xmlns:a16="http://schemas.microsoft.com/office/drawing/2014/main" id="{FDEF0E77-F2D9-4BAF-B509-812F3951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5750"/>
            <a:ext cx="5334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t>开始之前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F56990EC-D5BD-485D-8200-20057FC8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71500"/>
            <a:ext cx="11404568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先看懂链路，再动手复现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56155121-6B37-4589-927A-E23D47F8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11404568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accent-2">
            <a:extLst xmlns:a="http://schemas.openxmlformats.org/drawingml/2006/main">
              <a:ext uri="{FF2B5EF4-FFF2-40B4-BE49-F238E27FC236}">
                <a16:creationId xmlns:a16="http://schemas.microsoft.com/office/drawing/2014/main" id="{551CC3C6-308B-42DB-8224-4115B36F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47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footer-left-2">
            <a:extLst xmlns:a="http://schemas.openxmlformats.org/drawingml/2006/main">
              <a:ext uri="{FF2B5EF4-FFF2-40B4-BE49-F238E27FC236}">
                <a16:creationId xmlns:a16="http://schemas.microsoft.com/office/drawing/2014/main" id="{42AF03FF-604C-439A-B93F-73205D5D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96050"/>
            <a:ext cx="419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t>CR 数值策划资源库 · 使用说明</a:t>
            </a:r>
          </a:p>
        </p:txBody>
      </p:sp>
      <p:sp>
        <p:nvSpPr>
          <p:cNvPr id="6" name="footer-right-2">
            <a:extLst xmlns:a="http://schemas.openxmlformats.org/drawingml/2006/main">
              <a:ext uri="{FF2B5EF4-FFF2-40B4-BE49-F238E27FC236}">
                <a16:creationId xmlns:a16="http://schemas.microsoft.com/office/drawing/2014/main" id="{1FFB6F9D-F185-43FC-8BF3-ED4CF42A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438900"/>
            <a:ext cx="518922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7" name="path-note">
            <a:extLst xmlns:a="http://schemas.openxmlformats.org/drawingml/2006/main">
              <a:ext uri="{FF2B5EF4-FFF2-40B4-BE49-F238E27FC236}">
                <a16:creationId xmlns:a16="http://schemas.microsoft.com/office/drawing/2014/main" id="{B3A48B28-C994-47BF-ABCA-C3A6DFB9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90700"/>
            <a:ext cx="10477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t>六步走完一次完整协作，每一步都有命令和通过标准</a:t>
            </a:r>
          </a:p>
        </p:txBody>
      </p:sp>
      <p:sp>
        <p:nvSpPr>
          <p:cNvPr id="8" name="path-chip-1">
            <a:extLst xmlns:a="http://schemas.openxmlformats.org/drawingml/2006/main">
              <a:ext uri="{FF2B5EF4-FFF2-40B4-BE49-F238E27FC236}">
                <a16:creationId xmlns:a16="http://schemas.microsoft.com/office/drawing/2014/main" id="{00133403-29C1-4E5C-80A4-B7BDEF14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0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path-no-1">
            <a:extLst xmlns:a="http://schemas.openxmlformats.org/drawingml/2006/main">
              <a:ext uri="{FF2B5EF4-FFF2-40B4-BE49-F238E27FC236}">
                <a16:creationId xmlns:a16="http://schemas.microsoft.com/office/drawing/2014/main" id="{67E15840-74E0-45FB-B32F-A7F43C7E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0"/>
            <a:ext cx="5334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10" name="path-label-1">
            <a:extLst xmlns:a="http://schemas.openxmlformats.org/drawingml/2006/main">
              <a:ext uri="{FF2B5EF4-FFF2-40B4-BE49-F238E27FC236}">
                <a16:creationId xmlns:a16="http://schemas.microsoft.com/office/drawing/2014/main" id="{D9BB914E-8295-4FAA-B5DC-73BE59A2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14650"/>
            <a:ext cx="304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环境搭建</a:t>
            </a:r>
          </a:p>
        </p:txBody>
      </p:sp>
      <p:sp>
        <p:nvSpPr>
          <p:cNvPr id="11" name="path-desc-1">
            <a:extLst xmlns:a="http://schemas.openxmlformats.org/drawingml/2006/main">
              <a:ext uri="{FF2B5EF4-FFF2-40B4-BE49-F238E27FC236}">
                <a16:creationId xmlns:a16="http://schemas.microsoft.com/office/drawing/2014/main" id="{345E58E4-F7C3-4BFE-8E4D-9DBF6E4F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57550"/>
            <a:ext cx="304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t>装好 Python、SVN 与 dev 快照</a:t>
            </a:r>
          </a:p>
        </p:txBody>
      </p:sp>
      <p:sp>
        <p:nvSpPr>
          <p:cNvPr id="12" name="path-chip-2">
            <a:extLst xmlns:a="http://schemas.openxmlformats.org/drawingml/2006/main">
              <a:ext uri="{FF2B5EF4-FFF2-40B4-BE49-F238E27FC236}">
                <a16:creationId xmlns:a16="http://schemas.microsoft.com/office/drawing/2014/main" id="{4C39B07D-3BC6-45F0-94B9-FDE3C565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57500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path-no-2">
            <a:extLst xmlns:a="http://schemas.openxmlformats.org/drawingml/2006/main">
              <a:ext uri="{FF2B5EF4-FFF2-40B4-BE49-F238E27FC236}">
                <a16:creationId xmlns:a16="http://schemas.microsoft.com/office/drawing/2014/main" id="{5CD1C010-6E89-4F21-8C10-F783879D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57500"/>
            <a:ext cx="5334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14" name="path-label-2">
            <a:extLst xmlns:a="http://schemas.openxmlformats.org/drawingml/2006/main">
              <a:ext uri="{FF2B5EF4-FFF2-40B4-BE49-F238E27FC236}">
                <a16:creationId xmlns:a16="http://schemas.microsoft.com/office/drawing/2014/main" id="{309AC177-376F-4F3D-B31A-695BAAEE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14650"/>
            <a:ext cx="304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仓库结构</a:t>
            </a:r>
          </a:p>
        </p:txBody>
      </p:sp>
      <p:sp>
        <p:nvSpPr>
          <p:cNvPr id="15" name="path-desc-2">
            <a:extLst xmlns:a="http://schemas.openxmlformats.org/drawingml/2006/main">
              <a:ext uri="{FF2B5EF4-FFF2-40B4-BE49-F238E27FC236}">
                <a16:creationId xmlns:a16="http://schemas.microsoft.com/office/drawing/2014/main" id="{F59ABF12-1A3F-4069-9BB2-711E87BB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57550"/>
            <a:ext cx="304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t>知道知识、数据、工具放在哪</a:t>
            </a:r>
          </a:p>
        </p:txBody>
      </p:sp>
      <p:sp>
        <p:nvSpPr>
          <p:cNvPr id="16" name="path-chip-3">
            <a:extLst xmlns:a="http://schemas.openxmlformats.org/drawingml/2006/main">
              <a:ext uri="{FF2B5EF4-FFF2-40B4-BE49-F238E27FC236}">
                <a16:creationId xmlns:a16="http://schemas.microsoft.com/office/drawing/2014/main" id="{04984006-00EC-4844-A575-44B0574B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0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path-no-3">
            <a:extLst xmlns:a="http://schemas.openxmlformats.org/drawingml/2006/main">
              <a:ext uri="{FF2B5EF4-FFF2-40B4-BE49-F238E27FC236}">
                <a16:creationId xmlns:a16="http://schemas.microsoft.com/office/drawing/2014/main" id="{6AD69FE7-DAA9-4B04-8C72-A32D8812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0"/>
            <a:ext cx="5334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18" name="path-label-3">
            <a:extLst xmlns:a="http://schemas.openxmlformats.org/drawingml/2006/main">
              <a:ext uri="{FF2B5EF4-FFF2-40B4-BE49-F238E27FC236}">
                <a16:creationId xmlns:a16="http://schemas.microsoft.com/office/drawing/2014/main" id="{9D058B86-D225-4B50-BB35-5FE1D5FB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14650"/>
            <a:ext cx="304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功能总览</a:t>
            </a:r>
          </a:p>
        </p:txBody>
      </p:sp>
      <p:sp>
        <p:nvSpPr>
          <p:cNvPr id="19" name="path-desc-3">
            <a:extLst xmlns:a="http://schemas.openxmlformats.org/drawingml/2006/main">
              <a:ext uri="{FF2B5EF4-FFF2-40B4-BE49-F238E27FC236}">
                <a16:creationId xmlns:a16="http://schemas.microsoft.com/office/drawing/2014/main" id="{5C0E8519-93E3-4F8D-8C6A-E69ADF53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57550"/>
            <a:ext cx="304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t>五个能力、八个脚本各司其职</a:t>
            </a:r>
          </a:p>
        </p:txBody>
      </p:sp>
      <p:sp>
        <p:nvSpPr>
          <p:cNvPr id="20" name="path-chip-4">
            <a:extLst xmlns:a="http://schemas.openxmlformats.org/drawingml/2006/main">
              <a:ext uri="{FF2B5EF4-FFF2-40B4-BE49-F238E27FC236}">
                <a16:creationId xmlns:a16="http://schemas.microsoft.com/office/drawing/2014/main" id="{CF5411A3-628B-4347-8005-9707A0FE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24375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path-no-4">
            <a:extLst xmlns:a="http://schemas.openxmlformats.org/drawingml/2006/main">
              <a:ext uri="{FF2B5EF4-FFF2-40B4-BE49-F238E27FC236}">
                <a16:creationId xmlns:a16="http://schemas.microsoft.com/office/drawing/2014/main" id="{46349342-5913-4D06-8790-B18F89D7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24375"/>
            <a:ext cx="5334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2" name="path-label-4">
            <a:extLst xmlns:a="http://schemas.openxmlformats.org/drawingml/2006/main">
              <a:ext uri="{FF2B5EF4-FFF2-40B4-BE49-F238E27FC236}">
                <a16:creationId xmlns:a16="http://schemas.microsoft.com/office/drawing/2014/main" id="{77A45C53-1DBF-4EC7-B71D-6643F517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04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标准流程</a:t>
            </a:r>
          </a:p>
        </p:txBody>
      </p:sp>
      <p:sp>
        <p:nvSpPr>
          <p:cNvPr id="23" name="path-desc-4">
            <a:extLst xmlns:a="http://schemas.openxmlformats.org/drawingml/2006/main">
              <a:ext uri="{FF2B5EF4-FFF2-40B4-BE49-F238E27FC236}">
                <a16:creationId xmlns:a16="http://schemas.microsoft.com/office/drawing/2014/main" id="{6C3DB653-0ABB-4846-B626-617CB776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24425"/>
            <a:ext cx="304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t>六步闭环，与旧流程对比看变化</a:t>
            </a:r>
          </a:p>
        </p:txBody>
      </p:sp>
      <p:sp>
        <p:nvSpPr>
          <p:cNvPr id="24" name="path-chip-5">
            <a:extLst xmlns:a="http://schemas.openxmlformats.org/drawingml/2006/main">
              <a:ext uri="{FF2B5EF4-FFF2-40B4-BE49-F238E27FC236}">
                <a16:creationId xmlns:a16="http://schemas.microsoft.com/office/drawing/2014/main" id="{917B6069-1A56-4D6D-BC97-40316C1A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524375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path-no-5">
            <a:extLst xmlns:a="http://schemas.openxmlformats.org/drawingml/2006/main">
              <a:ext uri="{FF2B5EF4-FFF2-40B4-BE49-F238E27FC236}">
                <a16:creationId xmlns:a16="http://schemas.microsoft.com/office/drawing/2014/main" id="{57E6FA8F-8F70-4C51-B856-B7042CE3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524375"/>
            <a:ext cx="5334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6" name="path-label-5">
            <a:extLst xmlns:a="http://schemas.openxmlformats.org/drawingml/2006/main">
              <a:ext uri="{FF2B5EF4-FFF2-40B4-BE49-F238E27FC236}">
                <a16:creationId xmlns:a16="http://schemas.microsoft.com/office/drawing/2014/main" id="{FAA1D60B-C322-4043-9399-BF7D4E09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581525"/>
            <a:ext cx="304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实操示例</a:t>
            </a:r>
          </a:p>
        </p:txBody>
      </p:sp>
      <p:sp>
        <p:nvSpPr>
          <p:cNvPr id="27" name="path-desc-5">
            <a:extLst xmlns:a="http://schemas.openxmlformats.org/drawingml/2006/main">
              <a:ext uri="{FF2B5EF4-FFF2-40B4-BE49-F238E27FC236}">
                <a16:creationId xmlns:a16="http://schemas.microsoft.com/office/drawing/2014/main" id="{BDFB92E8-0D61-4E1C-85B6-3316C12F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924425"/>
            <a:ext cx="304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t>两个示例：改需求 + 新功能配表设计</a:t>
            </a:r>
          </a:p>
        </p:txBody>
      </p:sp>
      <p:sp>
        <p:nvSpPr>
          <p:cNvPr id="28" name="path-chip-6">
            <a:extLst xmlns:a="http://schemas.openxmlformats.org/drawingml/2006/main">
              <a:ext uri="{FF2B5EF4-FFF2-40B4-BE49-F238E27FC236}">
                <a16:creationId xmlns:a16="http://schemas.microsoft.com/office/drawing/2014/main" id="{D6FD0D15-4EBC-468F-8091-BDBEEFF1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24375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path-no-6">
            <a:extLst xmlns:a="http://schemas.openxmlformats.org/drawingml/2006/main">
              <a:ext uri="{FF2B5EF4-FFF2-40B4-BE49-F238E27FC236}">
                <a16:creationId xmlns:a16="http://schemas.microsoft.com/office/drawing/2014/main" id="{E18B4670-3F62-40AC-BF1C-08C327B4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24375"/>
            <a:ext cx="5334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30" name="path-label-6">
            <a:extLst xmlns:a="http://schemas.openxmlformats.org/drawingml/2006/main">
              <a:ext uri="{FF2B5EF4-FFF2-40B4-BE49-F238E27FC236}">
                <a16:creationId xmlns:a16="http://schemas.microsoft.com/office/drawing/2014/main" id="{E5A08404-D35C-4009-9DDE-69F79F28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81525"/>
            <a:ext cx="304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关键规则</a:t>
            </a:r>
          </a:p>
        </p:txBody>
      </p:sp>
      <p:sp>
        <p:nvSpPr>
          <p:cNvPr id="31" name="path-desc-6">
            <a:extLst xmlns:a="http://schemas.openxmlformats.org/drawingml/2006/main">
              <a:ext uri="{FF2B5EF4-FFF2-40B4-BE49-F238E27FC236}">
                <a16:creationId xmlns:a16="http://schemas.microsoft.com/office/drawing/2014/main" id="{551CC4C5-0111-4DB8-92BE-B03DDD17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924425"/>
            <a:ext cx="304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t>三条红线与提需求话术</a:t>
            </a:r>
          </a:p>
        </p:txBody>
      </p:sp>
    </p:spTree>
    <p:extLst>
      <p:ext uri="{BB962C8B-B14F-4D97-AF65-F5344CB8AC3E}">
        <p14:creationId xmlns:p14="http://schemas.microsoft.com/office/powerpoint/2010/main" val="15301396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yebrow-3">
            <a:extLst xmlns:a="http://schemas.openxmlformats.org/drawingml/2006/main">
              <a:ext uri="{FF2B5EF4-FFF2-40B4-BE49-F238E27FC236}">
                <a16:creationId xmlns:a16="http://schemas.microsoft.com/office/drawing/2014/main" id="{B6AFE3B7-1017-47DB-9891-B18A9327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5750"/>
            <a:ext cx="5334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t>环境搭建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89091CEA-FFDA-4569-8D77-EABCCDD5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71500"/>
            <a:ext cx="11404568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三样东西就够，加上仓库就绪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D4F39B63-17F5-420D-B047-E298BCF1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11404568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accent-3">
            <a:extLst xmlns:a="http://schemas.openxmlformats.org/drawingml/2006/main">
              <a:ext uri="{FF2B5EF4-FFF2-40B4-BE49-F238E27FC236}">
                <a16:creationId xmlns:a16="http://schemas.microsoft.com/office/drawing/2014/main" id="{D731ED49-D537-45EB-AA0F-447A2781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47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footer-left-3">
            <a:extLst xmlns:a="http://schemas.openxmlformats.org/drawingml/2006/main">
              <a:ext uri="{FF2B5EF4-FFF2-40B4-BE49-F238E27FC236}">
                <a16:creationId xmlns:a16="http://schemas.microsoft.com/office/drawing/2014/main" id="{2E342527-31F0-4533-B98B-4EADD7A8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96050"/>
            <a:ext cx="419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t>CR 数值策划资源库 · 使用说明</a:t>
            </a:r>
          </a:p>
        </p:txBody>
      </p:sp>
      <p:sp>
        <p:nvSpPr>
          <p:cNvPr id="6" name="footer-right-3">
            <a:extLst xmlns:a="http://schemas.openxmlformats.org/drawingml/2006/main">
              <a:ext uri="{FF2B5EF4-FFF2-40B4-BE49-F238E27FC236}">
                <a16:creationId xmlns:a16="http://schemas.microsoft.com/office/drawing/2014/main" id="{1BFD4257-64E5-4E75-B5F4-09873B37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438900"/>
            <a:ext cx="518922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7" name="env-l-1-chip">
            <a:extLst xmlns:a="http://schemas.openxmlformats.org/drawingml/2006/main">
              <a:ext uri="{FF2B5EF4-FFF2-40B4-BE49-F238E27FC236}">
                <a16:creationId xmlns:a16="http://schemas.microsoft.com/office/drawing/2014/main" id="{A7228601-4C6F-454E-BA4C-780A0D89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050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env-l-1-no">
            <a:extLst xmlns:a="http://schemas.openxmlformats.org/drawingml/2006/main">
              <a:ext uri="{FF2B5EF4-FFF2-40B4-BE49-F238E27FC236}">
                <a16:creationId xmlns:a16="http://schemas.microsoft.com/office/drawing/2014/main" id="{68D7E6EB-7CDB-4571-9C51-A42A69DF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050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9" name="env-l-1-title">
            <a:extLst xmlns:a="http://schemas.openxmlformats.org/drawingml/2006/main">
              <a:ext uri="{FF2B5EF4-FFF2-40B4-BE49-F238E27FC236}">
                <a16:creationId xmlns:a16="http://schemas.microsoft.com/office/drawing/2014/main" id="{26CF8134-3074-4916-910A-9B40565E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968" y="1905000"/>
            <a:ext cx="502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Python 3</a:t>
            </a:r>
          </a:p>
        </p:txBody>
      </p:sp>
      <p:sp>
        <p:nvSpPr>
          <p:cNvPr id="10" name="env-l-1-desc">
            <a:extLst xmlns:a="http://schemas.openxmlformats.org/drawingml/2006/main">
              <a:ext uri="{FF2B5EF4-FFF2-40B4-BE49-F238E27FC236}">
                <a16:creationId xmlns:a16="http://schemas.microsoft.com/office/drawing/2014/main" id="{1BA57723-AE78-40F7-B5D0-4BDC6613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968" y="2190750"/>
            <a:ext cx="50292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t>脚本只用标准库，推荐直接使用仓库内置运行时。</a:t>
            </a:r>
          </a:p>
        </p:txBody>
      </p:sp>
      <p:sp>
        <p:nvSpPr>
          <p:cNvPr id="11" name="env-l-2-chip">
            <a:extLst xmlns:a="http://schemas.openxmlformats.org/drawingml/2006/main">
              <a:ext uri="{FF2B5EF4-FFF2-40B4-BE49-F238E27FC236}">
                <a16:creationId xmlns:a16="http://schemas.microsoft.com/office/drawing/2014/main" id="{2ED4793D-9638-488F-A305-72167EDD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8137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env-l-2-no">
            <a:extLst xmlns:a="http://schemas.openxmlformats.org/drawingml/2006/main">
              <a:ext uri="{FF2B5EF4-FFF2-40B4-BE49-F238E27FC236}">
                <a16:creationId xmlns:a16="http://schemas.microsoft.com/office/drawing/2014/main" id="{4531E644-5A2D-4FB6-BC73-575A1AAE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813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13" name="env-l-2-title">
            <a:extLst xmlns:a="http://schemas.openxmlformats.org/drawingml/2006/main">
              <a:ext uri="{FF2B5EF4-FFF2-40B4-BE49-F238E27FC236}">
                <a16:creationId xmlns:a16="http://schemas.microsoft.com/office/drawing/2014/main" id="{8762C85A-8F70-4C7D-B40D-5653A5D5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968" y="3381375"/>
            <a:ext cx="502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SVN 命令行</a:t>
            </a:r>
          </a:p>
        </p:txBody>
      </p:sp>
      <p:sp>
        <p:nvSpPr>
          <p:cNvPr id="14" name="env-l-2-desc">
            <a:extLst xmlns:a="http://schemas.openxmlformats.org/drawingml/2006/main">
              <a:ext uri="{FF2B5EF4-FFF2-40B4-BE49-F238E27FC236}">
                <a16:creationId xmlns:a16="http://schemas.microsoft.com/office/drawing/2014/main" id="{B8167CF0-AAA4-4065-A3EA-C2A6E5A2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968" y="3667125"/>
            <a:ext cx="50292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t>TortoiseSVN CLI 或 SlikSVN；也可用 SVN_EXE 指定。</a:t>
            </a:r>
          </a:p>
        </p:txBody>
      </p:sp>
      <p:sp>
        <p:nvSpPr>
          <p:cNvPr id="15" name="env-l-3-chip">
            <a:extLst xmlns:a="http://schemas.openxmlformats.org/drawingml/2006/main">
              <a:ext uri="{FF2B5EF4-FFF2-40B4-BE49-F238E27FC236}">
                <a16:creationId xmlns:a16="http://schemas.microsoft.com/office/drawing/2014/main" id="{919FF03B-BE4B-4DED-9B0E-A04F7E6B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577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env-l-3-no">
            <a:extLst xmlns:a="http://schemas.openxmlformats.org/drawingml/2006/main">
              <a:ext uri="{FF2B5EF4-FFF2-40B4-BE49-F238E27FC236}">
                <a16:creationId xmlns:a16="http://schemas.microsoft.com/office/drawing/2014/main" id="{8559409E-ACAA-4AE3-83B2-47487EE6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5775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17" name="env-l-3-title">
            <a:extLst xmlns:a="http://schemas.openxmlformats.org/drawingml/2006/main">
              <a:ext uri="{FF2B5EF4-FFF2-40B4-BE49-F238E27FC236}">
                <a16:creationId xmlns:a16="http://schemas.microsoft.com/office/drawing/2014/main" id="{DFDF6354-68C5-4D9F-99C2-80FBEA92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968" y="4857750"/>
            <a:ext cx="502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dev 配置快照</a:t>
            </a:r>
          </a:p>
        </p:txBody>
      </p:sp>
      <p:sp>
        <p:nvSpPr>
          <p:cNvPr id="18" name="env-l-3-desc">
            <a:extLst xmlns:a="http://schemas.openxmlformats.org/drawingml/2006/main">
              <a:ext uri="{FF2B5EF4-FFF2-40B4-BE49-F238E27FC236}">
                <a16:creationId xmlns:a16="http://schemas.microsoft.com/office/drawing/2014/main" id="{94A1DB2C-38DE-426F-BD05-F536BAF7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968" y="5143500"/>
            <a:ext cx="50292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t>D:\cashRoyal\share：dev 分支工作副本，r5521 为基线。</a:t>
            </a:r>
          </a:p>
        </p:txBody>
      </p:sp>
      <p:sp>
        <p:nvSpPr>
          <p:cNvPr id="19" name="env-r-1-chip">
            <a:extLst xmlns:a="http://schemas.openxmlformats.org/drawingml/2006/main">
              <a:ext uri="{FF2B5EF4-FFF2-40B4-BE49-F238E27FC236}">
                <a16:creationId xmlns:a16="http://schemas.microsoft.com/office/drawing/2014/main" id="{AF149F7A-E6CE-49AA-BD1F-AB2794EE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19050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env-r-1-no">
            <a:extLst xmlns:a="http://schemas.openxmlformats.org/drawingml/2006/main">
              <a:ext uri="{FF2B5EF4-FFF2-40B4-BE49-F238E27FC236}">
                <a16:creationId xmlns:a16="http://schemas.microsoft.com/office/drawing/2014/main" id="{03383059-7CA5-4FB0-A743-04290EBC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19050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1" name="env-r-1-title">
            <a:extLst xmlns:a="http://schemas.openxmlformats.org/drawingml/2006/main">
              <a:ext uri="{FF2B5EF4-FFF2-40B4-BE49-F238E27FC236}">
                <a16:creationId xmlns:a16="http://schemas.microsoft.com/office/drawing/2014/main" id="{817C448F-0009-4947-A487-F7CD1E84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369" y="1905000"/>
            <a:ext cx="50387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仓库本体</a:t>
            </a:r>
          </a:p>
        </p:txBody>
      </p:sp>
      <p:sp>
        <p:nvSpPr>
          <p:cNvPr id="22" name="env-r-1-desc">
            <a:extLst xmlns:a="http://schemas.openxmlformats.org/drawingml/2006/main">
              <a:ext uri="{FF2B5EF4-FFF2-40B4-BE49-F238E27FC236}">
                <a16:creationId xmlns:a16="http://schemas.microsoft.com/office/drawing/2014/main" id="{C5EFC5B1-2F37-4A17-8A50-E53F1500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369" y="2190750"/>
            <a:ext cx="5038725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t>CR_design_staging：知识库与工具所在，随 SVN 更新。</a:t>
            </a:r>
          </a:p>
        </p:txBody>
      </p:sp>
      <p:sp>
        <p:nvSpPr>
          <p:cNvPr id="23" name="env-r-2-chip">
            <a:extLst xmlns:a="http://schemas.openxmlformats.org/drawingml/2006/main">
              <a:ext uri="{FF2B5EF4-FFF2-40B4-BE49-F238E27FC236}">
                <a16:creationId xmlns:a16="http://schemas.microsoft.com/office/drawing/2014/main" id="{49500832-2F1E-4155-8C46-A260AA5B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338137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env-r-2-no">
            <a:extLst xmlns:a="http://schemas.openxmlformats.org/drawingml/2006/main">
              <a:ext uri="{FF2B5EF4-FFF2-40B4-BE49-F238E27FC236}">
                <a16:creationId xmlns:a16="http://schemas.microsoft.com/office/drawing/2014/main" id="{57688DA8-BA13-4708-BE60-8CA97354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33813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5" name="env-r-2-title">
            <a:extLst xmlns:a="http://schemas.openxmlformats.org/drawingml/2006/main">
              <a:ext uri="{FF2B5EF4-FFF2-40B4-BE49-F238E27FC236}">
                <a16:creationId xmlns:a16="http://schemas.microsoft.com/office/drawing/2014/main" id="{25E412EC-F079-440E-BF4E-092FE5B9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369" y="3381375"/>
            <a:ext cx="50387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首次配置</a:t>
            </a:r>
          </a:p>
        </p:txBody>
      </p:sp>
      <p:sp>
        <p:nvSpPr>
          <p:cNvPr id="26" name="env-r-2-desc">
            <a:extLst xmlns:a="http://schemas.openxmlformats.org/drawingml/2006/main">
              <a:ext uri="{FF2B5EF4-FFF2-40B4-BE49-F238E27FC236}">
                <a16:creationId xmlns:a16="http://schemas.microsoft.com/office/drawing/2014/main" id="{E4DE3203-9908-4567-B8DD-B8EC9537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369" y="3667125"/>
            <a:ext cx="5038725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t>sync_data_sources.py 声明源目录，先预览再 --apply。</a:t>
            </a:r>
          </a:p>
        </p:txBody>
      </p:sp>
      <p:sp>
        <p:nvSpPr>
          <p:cNvPr id="27" name="env-r-3-chip">
            <a:extLst xmlns:a="http://schemas.openxmlformats.org/drawingml/2006/main">
              <a:ext uri="{FF2B5EF4-FFF2-40B4-BE49-F238E27FC236}">
                <a16:creationId xmlns:a16="http://schemas.microsoft.com/office/drawing/2014/main" id="{93A62864-5F8B-4F47-A36F-8FF34E3A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48577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env-r-3-no">
            <a:extLst xmlns:a="http://schemas.openxmlformats.org/drawingml/2006/main">
              <a:ext uri="{FF2B5EF4-FFF2-40B4-BE49-F238E27FC236}">
                <a16:creationId xmlns:a16="http://schemas.microsoft.com/office/drawing/2014/main" id="{526D9F87-0E1D-4E99-A60E-3A729ADA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485775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9" name="env-r-3-title">
            <a:extLst xmlns:a="http://schemas.openxmlformats.org/drawingml/2006/main">
              <a:ext uri="{FF2B5EF4-FFF2-40B4-BE49-F238E27FC236}">
                <a16:creationId xmlns:a16="http://schemas.microsoft.com/office/drawing/2014/main" id="{751CEADB-792B-4E07-A3A4-B8FD3A44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369" y="4857750"/>
            <a:ext cx="50387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验证环境</a:t>
            </a:r>
          </a:p>
        </p:txBody>
      </p:sp>
      <p:sp>
        <p:nvSpPr>
          <p:cNvPr id="30" name="env-r-3-desc">
            <a:extLst xmlns:a="http://schemas.openxmlformats.org/drawingml/2006/main">
              <a:ext uri="{FF2B5EF4-FFF2-40B4-BE49-F238E27FC236}">
                <a16:creationId xmlns:a16="http://schemas.microsoft.com/office/drawing/2014/main" id="{5137ED9E-34B8-48F6-B535-1628FEAA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369" y="5143500"/>
            <a:ext cx="5038725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t>validate_repository.py 0 错误即可开工。</a:t>
            </a:r>
          </a:p>
        </p:txBody>
      </p:sp>
    </p:spTree>
    <p:extLst>
      <p:ext uri="{BB962C8B-B14F-4D97-AF65-F5344CB8AC3E}">
        <p14:creationId xmlns:p14="http://schemas.microsoft.com/office/powerpoint/2010/main" val="67763488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-4">
            <a:extLst xmlns:a="http://schemas.openxmlformats.org/drawingml/2006/main">
              <a:ext uri="{FF2B5EF4-FFF2-40B4-BE49-F238E27FC236}">
                <a16:creationId xmlns:a16="http://schemas.microsoft.com/office/drawing/2014/main" id="{C1F7E7C5-1D42-46DF-B2A7-98375E9B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5750"/>
            <a:ext cx="5334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t>仓库结构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3AAFA2CA-7999-4B05-B90A-459734E9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71500"/>
            <a:ext cx="11404568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知识、数据、工具、文档分开放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F3914BA0-3A8F-4CDF-932C-20B332EC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11404568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accent-4">
            <a:extLst xmlns:a="http://schemas.openxmlformats.org/drawingml/2006/main">
              <a:ext uri="{FF2B5EF4-FFF2-40B4-BE49-F238E27FC236}">
                <a16:creationId xmlns:a16="http://schemas.microsoft.com/office/drawing/2014/main" id="{0D6E3E40-6C41-4CD1-BF7B-B510FA05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47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footer-left-4">
            <a:extLst xmlns:a="http://schemas.openxmlformats.org/drawingml/2006/main">
              <a:ext uri="{FF2B5EF4-FFF2-40B4-BE49-F238E27FC236}">
                <a16:creationId xmlns:a16="http://schemas.microsoft.com/office/drawing/2014/main" id="{64C88929-690D-4119-8071-B119B69B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96050"/>
            <a:ext cx="419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t>CR 数值策划资源库 · 使用说明</a:t>
            </a:r>
          </a:p>
        </p:txBody>
      </p:sp>
      <p:sp>
        <p:nvSpPr>
          <p:cNvPr id="6" name="footer-right-4">
            <a:extLst xmlns:a="http://schemas.openxmlformats.org/drawingml/2006/main">
              <a:ext uri="{FF2B5EF4-FFF2-40B4-BE49-F238E27FC236}">
                <a16:creationId xmlns:a16="http://schemas.microsoft.com/office/drawing/2014/main" id="{C960CF61-568B-4D8E-BC8E-083DA253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438900"/>
            <a:ext cx="518922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7" name="structure-intro">
            <a:extLst xmlns:a="http://schemas.openxmlformats.org/drawingml/2006/main">
              <a:ext uri="{FF2B5EF4-FFF2-40B4-BE49-F238E27FC236}">
                <a16:creationId xmlns:a16="http://schemas.microsoft.com/office/drawing/2014/main" id="{A02F2CA2-17A9-4CE3-B1DD-C05E7026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790700"/>
            <a:ext cx="11404568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t>谁负责什么，都在目录名里写清楚</a:t>
            </a:r>
          </a:p>
        </p:txBody>
      </p:sp>
      <p:graphicFrame>
        <p:nvGraphicFramePr>
          <p:cNvPr id="18" name="表格 15"/>
          <p:cNvGraphicFramePr/>
          <p:nvPr/>
        </p:nvGraphicFramePr>
        <p:xfrm>
          <a:off xmlns:a="http://schemas.openxmlformats.org/drawingml/2006/main" x="393668" y="2571750"/>
          <a:ext xmlns:a="http://schemas.openxmlformats.org/drawingml/2006/main" cx="11404568" cy="3524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143250"/>
                <a:gridCol w="5048250"/>
                <a:gridCol w="3209925"/>
              </a:tblGrid>
              <a:tr h="503464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目录</a:t>
                      </a:r>
                      <a:endParaRPr sz="1275" b="1">
                        <a:solidFill>
                          <a:srgbClr val="FFFFFF"/>
                        </a:solidFill>
                      </a:endParaRPr>
                    </a:p>
                  </a:txBody>
                  <a:tcPr marL="95250" marR="95250" marT="47625" marB="476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作用</a:t>
                      </a:r>
                      <a:endParaRPr sz="1275" b="1">
                        <a:solidFill>
                          <a:srgbClr val="FFFFFF"/>
                        </a:solidFill>
                      </a:endParaRPr>
                    </a:p>
                  </a:txBody>
                  <a:tcPr marL="95250" marR="95250" marT="47625" marB="476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协作方式</a:t>
                      </a:r>
                      <a:endParaRPr sz="1275" b="1">
                        <a:solidFill>
                          <a:srgbClr val="FFFFFF"/>
                        </a:solidFill>
                      </a:endParaRPr>
                    </a:p>
                  </a:txBody>
                  <a:tcPr marL="95250" marR="95250" marT="47625" marB="47625">
                    <a:solidFill>
                      <a:srgbClr val="0F172A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AGENTS.md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协作规则 + 项目记忆入口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全员先读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数值策划/知识库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数据目录、项目记忆、同步清单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AI 维护 + 策划补充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数值策划/数据源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程序配置导出快照（只读核对）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同步工具更新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数值策划/工具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Python 3 脚本：复算/校验/提交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AI 执行，策划审阅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数值策划/数值文档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规范、方案、体验报告、复盘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策划产出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.agents/skills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5 个 cr-* 技能路由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按任务自动加载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490395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-4">
            <a:extLst xmlns:a="http://schemas.openxmlformats.org/drawingml/2006/main">
              <a:ext uri="{FF2B5EF4-FFF2-40B4-BE49-F238E27FC236}">
                <a16:creationId xmlns:a16="http://schemas.microsoft.com/office/drawing/2014/main" id="{C1F7E7C5-1D42-46DF-B2A7-98375E9B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5750"/>
            <a:ext cx="5334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资源库全景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3AAFA2CA-7999-4B05-B90A-459734E9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71500"/>
            <a:ext cx="11404568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一张图看懂整个资源库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F3914BA0-3A8F-4CDF-932C-20B332EC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11404568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accent-4">
            <a:extLst xmlns:a="http://schemas.openxmlformats.org/drawingml/2006/main">
              <a:ext uri="{FF2B5EF4-FFF2-40B4-BE49-F238E27FC236}">
                <a16:creationId xmlns:a16="http://schemas.microsoft.com/office/drawing/2014/main" id="{0D6E3E40-6C41-4CD1-BF7B-B510FA05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47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footer-left-4">
            <a:extLst xmlns:a="http://schemas.openxmlformats.org/drawingml/2006/main">
              <a:ext uri="{FF2B5EF4-FFF2-40B4-BE49-F238E27FC236}">
                <a16:creationId xmlns:a16="http://schemas.microsoft.com/office/drawing/2014/main" id="{64C88929-690D-4119-8071-B119B69B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96050"/>
            <a:ext cx="419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t>CR 数值策划资源库 · 使用说明</a:t>
            </a:r>
          </a:p>
        </p:txBody>
      </p:sp>
      <p:sp>
        <p:nvSpPr>
          <p:cNvPr id="6" name="footer-right-4">
            <a:extLst xmlns:a="http://schemas.openxmlformats.org/drawingml/2006/main">
              <a:ext uri="{FF2B5EF4-FFF2-40B4-BE49-F238E27FC236}">
                <a16:creationId xmlns:a16="http://schemas.microsoft.com/office/drawing/2014/main" id="{C960CF61-568B-4D8E-BC8E-083DA253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438900"/>
            <a:ext cx="518922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7" name="structure-intro">
            <a:extLst xmlns:a="http://schemas.openxmlformats.org/drawingml/2006/main">
              <a:ext uri="{FF2B5EF4-FFF2-40B4-BE49-F238E27FC236}">
                <a16:creationId xmlns:a16="http://schemas.microsoft.com/office/drawing/2014/main" id="{A02F2CA2-17A9-4CE3-B1DD-C05E7026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790700"/>
            <a:ext cx="11404568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从根目录到数值文档：每个分区入口单一、职责清晰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00A84B-53A9-4A84-BCDD-0787360A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953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94A3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797410-A8D4-4109-8D8C-35361FF2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28950"/>
            <a:ext cx="6477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94A3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D7299C-5F7A-4A19-AD2E-5A8247FD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28950"/>
            <a:ext cx="953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94A3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873BEC-9FE4-4B97-8EAF-84262519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953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94A3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DFD281-495D-4442-A6A5-F28A8045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28950"/>
            <a:ext cx="953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94A3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89158F-78C6-4615-9FDD-5514AF3E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86200"/>
            <a:ext cx="953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94A3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69F043-E24D-48F3-88E8-4CDD75CF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133850"/>
            <a:ext cx="87058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94A3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2D157E-4DAF-45C2-9749-FCD4AEC9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133850"/>
            <a:ext cx="953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94A3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6176CB-1E29-4D82-9D4F-606CA894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133850"/>
            <a:ext cx="953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94A3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55DDE3-F593-4BA7-A024-62FA7137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133850"/>
            <a:ext cx="953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94A3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D7FFF0-40C3-4BAA-B914-6C33A1AA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4133850"/>
            <a:ext cx="953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94A3B8"/>
            </a:solidFill>
            <a:prstDash val="solid"/>
          </a:ln>
        </p:spPr>
      </p:sp>
      <p:sp>
        <p:nvSpPr>
          <p:cNvPr id="21" name="diagram-root">
            <a:extLst xmlns:a="http://schemas.openxmlformats.org/drawingml/2006/main">
              <a:ext uri="{FF2B5EF4-FFF2-40B4-BE49-F238E27FC236}">
                <a16:creationId xmlns:a16="http://schemas.microsoft.com/office/drawing/2014/main" id="{581A731E-10B0-4A84-8ADE-5B0140BF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8600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CR_design_staging 资源库</a:t>
            </a:r>
          </a:p>
        </p:txBody>
      </p:sp>
      <p:sp>
        <p:nvSpPr>
          <p:cNvPr id="22" name="diagram-agents">
            <a:extLst xmlns:a="http://schemas.openxmlformats.org/drawingml/2006/main">
              <a:ext uri="{FF2B5EF4-FFF2-40B4-BE49-F238E27FC236}">
                <a16:creationId xmlns:a16="http://schemas.microsoft.com/office/drawing/2014/main" id="{EB37F4CC-545D-4B8C-81D4-F8E535AC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147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lIns="133350" tIns="57150" rIns="95250" bIns="57150" anchor="ctr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AGENTS.md</a:t>
            </a:r>
          </a:p>
          <a:p xmlns:a="http://schemas.openxmlformats.org/drawingml/2006/main">
            <a:r>
              <a:rPr sz="110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协作规则 + 项目记忆入口</a:t>
            </a:r>
          </a:p>
        </p:txBody>
      </p:sp>
      <p:sp>
        <p:nvSpPr>
          <p:cNvPr id="23" name="diagram-skills">
            <a:extLst xmlns:a="http://schemas.openxmlformats.org/drawingml/2006/main">
              <a:ext uri="{FF2B5EF4-FFF2-40B4-BE49-F238E27FC236}">
                <a16:creationId xmlns:a16="http://schemas.microsoft.com/office/drawing/2014/main" id="{6A61D576-AF02-4B64-B9B8-C3038CB6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147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lIns="133350" tIns="57150" rIns="95250" bIns="57150" anchor="ctr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.agents/skills</a:t>
            </a:r>
          </a:p>
          <a:p xmlns:a="http://schemas.openxmlformats.org/drawingml/2006/main">
            <a:r>
              <a:rPr sz="110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5 个 cr-* 技能路由</a:t>
            </a:r>
          </a:p>
        </p:txBody>
      </p:sp>
      <p:sp>
        <p:nvSpPr>
          <p:cNvPr id="24" name="diagram-numeric">
            <a:extLst xmlns:a="http://schemas.openxmlformats.org/drawingml/2006/main">
              <a:ext uri="{FF2B5EF4-FFF2-40B4-BE49-F238E27FC236}">
                <a16:creationId xmlns:a16="http://schemas.microsoft.com/office/drawing/2014/main" id="{44B7C8EA-805B-43EF-904A-06E1DC52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147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57150" rIns="95250" bIns="57150" anchor="ctr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数值策划/</a:t>
            </a:r>
          </a:p>
          <a:p xmlns:a="http://schemas.openxmlformats.org/drawingml/2006/main">
            <a:r>
              <a:rPr sz="1100">
                <a:solidFill>
                  <a:srgbClr val="E2E8F0"/>
                </a:solidFill>
                <a:latin typeface="Helvetica Neue"/>
                <a:ea typeface="Helvetica Neue"/>
                <a:cs typeface="Helvetica Neue"/>
              </a:rPr>
              <a:t>知识 · 数据 · 工具 · 文档</a:t>
            </a:r>
          </a:p>
        </p:txBody>
      </p:sp>
      <p:sp>
        <p:nvSpPr>
          <p:cNvPr id="25" name="diagram-knowledge">
            <a:extLst xmlns:a="http://schemas.openxmlformats.org/drawingml/2006/main">
              <a:ext uri="{FF2B5EF4-FFF2-40B4-BE49-F238E27FC236}">
                <a16:creationId xmlns:a16="http://schemas.microsoft.com/office/drawing/2014/main" id="{65852DB3-A823-4742-83D9-5ACA4218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419600"/>
            <a:ext cx="2686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lIns="133350" tIns="57150" rIns="95250" bIns="57150" anchor="ctr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知识库</a:t>
            </a:r>
          </a:p>
          <a:p xmlns:a="http://schemas.openxmlformats.org/drawingml/2006/main">
            <a:r>
              <a:rPr sz="110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项目记忆 · 数据目录 · 同步清单</a:t>
            </a:r>
          </a:p>
        </p:txBody>
      </p:sp>
      <p:sp>
        <p:nvSpPr>
          <p:cNvPr id="26" name="diagram-datasource">
            <a:extLst xmlns:a="http://schemas.openxmlformats.org/drawingml/2006/main">
              <a:ext uri="{FF2B5EF4-FFF2-40B4-BE49-F238E27FC236}">
                <a16:creationId xmlns:a16="http://schemas.microsoft.com/office/drawing/2014/main" id="{7E50014B-E670-4031-AB6C-C468B51A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793" y="4419600"/>
            <a:ext cx="2686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lIns="133350" tIns="57150" rIns="95250" bIns="57150" anchor="ctr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数据源</a:t>
            </a:r>
          </a:p>
          <a:p xmlns:a="http://schemas.openxmlformats.org/drawingml/2006/main">
            <a:r>
              <a:rPr sz="110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程序导出快照（只读）· 策划源表</a:t>
            </a:r>
          </a:p>
        </p:txBody>
      </p:sp>
      <p:sp>
        <p:nvSpPr>
          <p:cNvPr id="27" name="diagram-tools">
            <a:extLst xmlns:a="http://schemas.openxmlformats.org/drawingml/2006/main">
              <a:ext uri="{FF2B5EF4-FFF2-40B4-BE49-F238E27FC236}">
                <a16:creationId xmlns:a16="http://schemas.microsoft.com/office/drawing/2014/main" id="{B22FA1D8-6183-4459-8D95-BEAA6884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3918" y="4419600"/>
            <a:ext cx="2686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lIns="133350" tIns="57150" rIns="95250" bIns="57150" anchor="ctr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工具</a:t>
            </a:r>
          </a:p>
          <a:p xmlns:a="http://schemas.openxmlformats.org/drawingml/2006/main">
            <a:r>
              <a:rPr sz="110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Python 脚本：复算 · 校验 · 提交</a:t>
            </a:r>
          </a:p>
        </p:txBody>
      </p:sp>
      <p:sp>
        <p:nvSpPr>
          <p:cNvPr id="28" name="diagram-docs">
            <a:extLst xmlns:a="http://schemas.openxmlformats.org/drawingml/2006/main">
              <a:ext uri="{FF2B5EF4-FFF2-40B4-BE49-F238E27FC236}">
                <a16:creationId xmlns:a16="http://schemas.microsoft.com/office/drawing/2014/main" id="{78A01BC8-1F2E-423D-8FA0-39469B82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9043" y="4419600"/>
            <a:ext cx="2686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lIns="133350" tIns="57150" rIns="95250" bIns="57150" anchor="ctr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数值文档</a:t>
            </a:r>
          </a:p>
          <a:p xmlns:a="http://schemas.openxmlformats.org/drawingml/2006/main">
            <a:r>
              <a:rPr sz="110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规范 · 设计 · 玩法 · 复盘 · 归档</a:t>
            </a:r>
          </a:p>
        </p:txBody>
      </p:sp>
      <p:sp>
        <p:nvSpPr>
          <p:cNvPr id="29" name="diagram-note">
            <a:extLst xmlns:a="http://schemas.openxmlformats.org/drawingml/2006/main">
              <a:ext uri="{FF2B5EF4-FFF2-40B4-BE49-F238E27FC236}">
                <a16:creationId xmlns:a16="http://schemas.microsoft.com/office/drawing/2014/main" id="{455D3E75-8E67-496B-8D72-3C7F7593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619750"/>
            <a:ext cx="1140456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sz="130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协作入口：先读 AGENTS.md；日常改动落在 数值策划/ 四个分区，程序配置导出快照保持只读。</a:t>
            </a:r>
          </a:p>
        </p:txBody>
      </p:sp>
    </p:spTree>
    <p:extLst>
      <p:ext uri="{BB962C8B-B14F-4D97-AF65-F5344CB8AC3E}">
        <p14:creationId xmlns:p14="http://schemas.microsoft.com/office/powerpoint/2010/main" val="95490395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-5">
            <a:extLst xmlns:a="http://schemas.openxmlformats.org/drawingml/2006/main">
              <a:ext uri="{FF2B5EF4-FFF2-40B4-BE49-F238E27FC236}">
                <a16:creationId xmlns:a16="http://schemas.microsoft.com/office/drawing/2014/main" id="{3357AA17-CCB3-495A-B6A1-9E5F2145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5750"/>
            <a:ext cx="5334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t>功能总览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DB4D0BDC-EA52-4058-93D3-F4594F58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71500"/>
            <a:ext cx="11404568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五个能力，覆盖从资料到提交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28CEA1E3-74B2-40B0-99BC-B11E2474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11404568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accent-5">
            <a:extLst xmlns:a="http://schemas.openxmlformats.org/drawingml/2006/main">
              <a:ext uri="{FF2B5EF4-FFF2-40B4-BE49-F238E27FC236}">
                <a16:creationId xmlns:a16="http://schemas.microsoft.com/office/drawing/2014/main" id="{F5AA5C0E-76B7-43F2-A9A0-0E39437F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47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footer-left-5">
            <a:extLst xmlns:a="http://schemas.openxmlformats.org/drawingml/2006/main">
              <a:ext uri="{FF2B5EF4-FFF2-40B4-BE49-F238E27FC236}">
                <a16:creationId xmlns:a16="http://schemas.microsoft.com/office/drawing/2014/main" id="{C693F6AC-8869-4C2C-9063-46D46F4D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96050"/>
            <a:ext cx="419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t>CR 数值策划资源库 · 使用说明</a:t>
            </a:r>
          </a:p>
        </p:txBody>
      </p:sp>
      <p:sp>
        <p:nvSpPr>
          <p:cNvPr id="6" name="footer-right-5">
            <a:extLst xmlns:a="http://schemas.openxmlformats.org/drawingml/2006/main">
              <a:ext uri="{FF2B5EF4-FFF2-40B4-BE49-F238E27FC236}">
                <a16:creationId xmlns:a16="http://schemas.microsoft.com/office/drawing/2014/main" id="{84E8A1E9-92C4-4EB0-9E96-7A03DC49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438900"/>
            <a:ext cx="518922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graphicFrame>
        <p:nvGraphicFramePr>
          <p:cNvPr id="16" name="表格 13"/>
          <p:cNvGraphicFramePr/>
          <p:nvPr/>
        </p:nvGraphicFramePr>
        <p:xfrm>
          <a:off xmlns:a="http://schemas.openxmlformats.org/drawingml/2006/main" x="393668" y="2286000"/>
          <a:ext xmlns:a="http://schemas.openxmlformats.org/drawingml/2006/main" cx="11404664" cy="381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048000"/>
                <a:gridCol w="8353425"/>
              </a:tblGrid>
              <a:tr h="6350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能力</a:t>
                      </a:r>
                      <a:endParaRPr sz="1275" b="1">
                        <a:solidFill>
                          <a:srgbClr val="FFFFFF"/>
                        </a:solidFill>
                      </a:endParaRPr>
                    </a:p>
                  </a:txBody>
                  <a:tcPr marL="95250" marR="95250" marT="47625" marB="476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说明</a:t>
                      </a:r>
                      <a:endParaRPr sz="1275" b="1">
                        <a:solidFill>
                          <a:srgbClr val="FFFFFF"/>
                        </a:solidFill>
                      </a:endParaRPr>
                    </a:p>
                  </a:txBody>
                  <a:tcPr marL="95250" marR="95250" marT="47625" marB="47625">
                    <a:solidFill>
                      <a:srgbClr val="0F172A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01 资料导入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飞书/本地 CR 资料筛选、正文落库、分区整理（cr-ingest-knowledge）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02 源表治理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策划源表盘点、Sheet 分类、版本边界（cr-govern-workbooks）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03 配置快照审计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程序导出配置只读比对、哈希与范围校验（cr-audit-config-snapshots）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04 数值推导与报告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经济/成长/概率推导、三日体验模拟、HTML 报告（cr-numerical-design）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05 SVN 安全提交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演练 → 校验 → 自动添加 → 提交 → 复核（cr-svn-submit）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358652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-6">
            <a:extLst xmlns:a="http://schemas.openxmlformats.org/drawingml/2006/main">
              <a:ext uri="{FF2B5EF4-FFF2-40B4-BE49-F238E27FC236}">
                <a16:creationId xmlns:a16="http://schemas.microsoft.com/office/drawing/2014/main" id="{01258EC6-2DDC-4E4A-93A1-6F514B7A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5750"/>
            <a:ext cx="5334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t>工具速查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15563A1F-DB3B-4DEB-9F05-94B22CEF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71500"/>
            <a:ext cx="11404568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八个脚本，每个只做一件事</a:t>
            </a:r>
          </a:p>
        </p:txBody>
      </p:sp>
      <p:sp>
        <p:nvSpPr>
          <p:cNvPr id="3" name="rule-6">
            <a:extLst xmlns:a="http://schemas.openxmlformats.org/drawingml/2006/main">
              <a:ext uri="{FF2B5EF4-FFF2-40B4-BE49-F238E27FC236}">
                <a16:creationId xmlns:a16="http://schemas.microsoft.com/office/drawing/2014/main" id="{26F36BC6-F0D3-4F5C-B56D-BD0CC9F5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11404568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accent-6">
            <a:extLst xmlns:a="http://schemas.openxmlformats.org/drawingml/2006/main">
              <a:ext uri="{FF2B5EF4-FFF2-40B4-BE49-F238E27FC236}">
                <a16:creationId xmlns:a16="http://schemas.microsoft.com/office/drawing/2014/main" id="{BDF09019-5D2D-4AF1-B7A9-B7FCEBEF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47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footer-left-6">
            <a:extLst xmlns:a="http://schemas.openxmlformats.org/drawingml/2006/main">
              <a:ext uri="{FF2B5EF4-FFF2-40B4-BE49-F238E27FC236}">
                <a16:creationId xmlns:a16="http://schemas.microsoft.com/office/drawing/2014/main" id="{4FDC1E19-FD0D-4EED-93D3-AAA75882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96050"/>
            <a:ext cx="419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t>CR 数值策划资源库 · 使用说明</a:t>
            </a:r>
          </a:p>
        </p:txBody>
      </p:sp>
      <p:sp>
        <p:nvSpPr>
          <p:cNvPr id="6" name="footer-right-6">
            <a:extLst xmlns:a="http://schemas.openxmlformats.org/drawingml/2006/main">
              <a:ext uri="{FF2B5EF4-FFF2-40B4-BE49-F238E27FC236}">
                <a16:creationId xmlns:a16="http://schemas.microsoft.com/office/drawing/2014/main" id="{F280045C-0878-46C2-B2D0-6CA80279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438900"/>
            <a:ext cx="518922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7" name="tools-intro">
            <a:extLst xmlns:a="http://schemas.openxmlformats.org/drawingml/2006/main">
              <a:ext uri="{FF2B5EF4-FFF2-40B4-BE49-F238E27FC236}">
                <a16:creationId xmlns:a16="http://schemas.microsoft.com/office/drawing/2014/main" id="{A2B5E5E7-5135-4754-AE4D-FD5CABB2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790700"/>
            <a:ext cx="11404568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t>命令都以 数值策划/工具/ 为前缀，Python 3 标准库实现</a:t>
            </a:r>
          </a:p>
        </p:txBody>
      </p:sp>
      <p:graphicFrame>
        <p:nvGraphicFramePr>
          <p:cNvPr id="18" name="表格 15"/>
          <p:cNvGraphicFramePr/>
          <p:nvPr/>
        </p:nvGraphicFramePr>
        <p:xfrm>
          <a:off xmlns:a="http://schemas.openxmlformats.org/drawingml/2006/main" x="393668" y="2476500"/>
          <a:ext xmlns:a="http://schemas.openxmlformats.org/drawingml/2006/main" cx="11404568" cy="3619503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238500"/>
                <a:gridCol w="4953000"/>
                <a:gridCol w="3209925"/>
              </a:tblGrid>
              <a:tr h="40216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脚本</a:t>
                      </a:r>
                      <a:endParaRPr sz="1275" b="1">
                        <a:solidFill>
                          <a:srgbClr val="FFFFFF"/>
                        </a:solidFill>
                      </a:endParaRPr>
                    </a:p>
                  </a:txBody>
                  <a:tcPr marL="95250" marR="95250" marT="47625" marB="476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用途</a:t>
                      </a:r>
                      <a:endParaRPr sz="1275" b="1">
                        <a:solidFill>
                          <a:srgbClr val="FFFFFF"/>
                        </a:solidFill>
                      </a:endParaRPr>
                    </a:p>
                  </a:txBody>
                  <a:tcPr marL="95250" marR="95250" marT="47625" marB="476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关键参数</a:t>
                      </a:r>
                      <a:endParaRPr sz="1275" b="1">
                        <a:solidFill>
                          <a:srgbClr val="FFFFFF"/>
                        </a:solidFill>
                      </a:endParaRPr>
                    </a:p>
                  </a:txBody>
                  <a:tcPr marL="95250" marR="95250" marT="47625" marB="47625">
                    <a:solidFill>
                      <a:srgbClr val="0F172A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sync_data_sources.py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同步策划源表与配置快照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--apply 执行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build_catalog.py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生成知识目录（673 个工作簿）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无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validate_repository.py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仓库验收：目录/Skill/语法/临时文件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--root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simulate_new_user_spin.py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新用户 Spin 串联与等级成长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--start-coins --target-level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simulate_cr_full_loop.py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三日 5,400 Spin 体验复算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--config-root --plinko-rtp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simulate_cr_latest_experience.py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免费 → 破产 → 付费压力模拟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--users --revision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generate_cr_experience_report.py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生成 MD + HTML 体验报告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--full --pressure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svn_submit.py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SVN 演练与安全提交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--execute -m 说明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95250" marR="95250" marT="38100" marB="3810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78421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eyebrow-7">
            <a:extLst xmlns:a="http://schemas.openxmlformats.org/drawingml/2006/main">
              <a:ext uri="{FF2B5EF4-FFF2-40B4-BE49-F238E27FC236}">
                <a16:creationId xmlns:a16="http://schemas.microsoft.com/office/drawing/2014/main" id="{C1601078-54B2-43C4-BDD8-FD35EC41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5750"/>
            <a:ext cx="5334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t>标准流程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5203645A-8324-43D9-8016-599EC527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71500"/>
            <a:ext cx="11404568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从需求到提交：六步闭环</a:t>
            </a:r>
          </a:p>
        </p:txBody>
      </p:sp>
      <p:sp>
        <p:nvSpPr>
          <p:cNvPr id="3" name="rule-7">
            <a:extLst xmlns:a="http://schemas.openxmlformats.org/drawingml/2006/main">
              <a:ext uri="{FF2B5EF4-FFF2-40B4-BE49-F238E27FC236}">
                <a16:creationId xmlns:a16="http://schemas.microsoft.com/office/drawing/2014/main" id="{EA7686E0-C58B-421C-9BC2-EB7D19F5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11404568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accent-7">
            <a:extLst xmlns:a="http://schemas.openxmlformats.org/drawingml/2006/main">
              <a:ext uri="{FF2B5EF4-FFF2-40B4-BE49-F238E27FC236}">
                <a16:creationId xmlns:a16="http://schemas.microsoft.com/office/drawing/2014/main" id="{03B5842D-751E-4951-A7C6-584FCB49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47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footer-left-7">
            <a:extLst xmlns:a="http://schemas.openxmlformats.org/drawingml/2006/main">
              <a:ext uri="{FF2B5EF4-FFF2-40B4-BE49-F238E27FC236}">
                <a16:creationId xmlns:a16="http://schemas.microsoft.com/office/drawing/2014/main" id="{FDE2D530-9445-4278-AE74-B7615BBB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96050"/>
            <a:ext cx="419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t>CR 数值策划资源库 · 使用说明</a:t>
            </a:r>
          </a:p>
        </p:txBody>
      </p:sp>
      <p:sp>
        <p:nvSpPr>
          <p:cNvPr id="6" name="footer-right-7">
            <a:extLst xmlns:a="http://schemas.openxmlformats.org/drawingml/2006/main">
              <a:ext uri="{FF2B5EF4-FFF2-40B4-BE49-F238E27FC236}">
                <a16:creationId xmlns:a16="http://schemas.microsoft.com/office/drawing/2014/main" id="{491EA2D0-E2FE-493E-899B-8EB64E62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438900"/>
            <a:ext cx="518922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7" name="flow-l-1-chip">
            <a:extLst xmlns:a="http://schemas.openxmlformats.org/drawingml/2006/main">
              <a:ext uri="{FF2B5EF4-FFF2-40B4-BE49-F238E27FC236}">
                <a16:creationId xmlns:a16="http://schemas.microsoft.com/office/drawing/2014/main" id="{CE344EB1-795E-40DE-8A27-F8C990F3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050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low-l-1-no">
            <a:extLst xmlns:a="http://schemas.openxmlformats.org/drawingml/2006/main">
              <a:ext uri="{FF2B5EF4-FFF2-40B4-BE49-F238E27FC236}">
                <a16:creationId xmlns:a16="http://schemas.microsoft.com/office/drawing/2014/main" id="{B88D0CF8-A8DD-4885-B169-0E889FA0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050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9" name="flow-l-1-title">
            <a:extLst xmlns:a="http://schemas.openxmlformats.org/drawingml/2006/main">
              <a:ext uri="{FF2B5EF4-FFF2-40B4-BE49-F238E27FC236}">
                <a16:creationId xmlns:a16="http://schemas.microsoft.com/office/drawing/2014/main" id="{64B22AF5-99D9-4392-8E2B-5182E103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968" y="1905000"/>
            <a:ext cx="502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读记忆与模板</a:t>
            </a:r>
          </a:p>
        </p:txBody>
      </p:sp>
      <p:sp>
        <p:nvSpPr>
          <p:cNvPr id="10" name="flow-l-1-desc">
            <a:extLst xmlns:a="http://schemas.openxmlformats.org/drawingml/2006/main">
              <a:ext uri="{FF2B5EF4-FFF2-40B4-BE49-F238E27FC236}">
                <a16:creationId xmlns:a16="http://schemas.microsoft.com/office/drawing/2014/main" id="{EA5D2912-DCFB-4A23-AE11-0F6A3B2F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968" y="2190750"/>
            <a:ext cx="50292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t>项目记忆 + 数值体验需求话术模板</a:t>
            </a:r>
          </a:p>
        </p:txBody>
      </p:sp>
      <p:sp>
        <p:nvSpPr>
          <p:cNvPr id="11" name="flow-l-2-chip">
            <a:extLst xmlns:a="http://schemas.openxmlformats.org/drawingml/2006/main">
              <a:ext uri="{FF2B5EF4-FFF2-40B4-BE49-F238E27FC236}">
                <a16:creationId xmlns:a16="http://schemas.microsoft.com/office/drawing/2014/main" id="{5C9D2002-C38B-42D3-BA55-FF8BF455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8137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flow-l-2-no">
            <a:extLst xmlns:a="http://schemas.openxmlformats.org/drawingml/2006/main">
              <a:ext uri="{FF2B5EF4-FFF2-40B4-BE49-F238E27FC236}">
                <a16:creationId xmlns:a16="http://schemas.microsoft.com/office/drawing/2014/main" id="{7100F08D-F9D5-443E-AEF1-648A89EC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813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13" name="flow-l-2-title">
            <a:extLst xmlns:a="http://schemas.openxmlformats.org/drawingml/2006/main">
              <a:ext uri="{FF2B5EF4-FFF2-40B4-BE49-F238E27FC236}">
                <a16:creationId xmlns:a16="http://schemas.microsoft.com/office/drawing/2014/main" id="{AE02D38B-C6D4-49DD-B061-ACF22DB1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968" y="3381375"/>
            <a:ext cx="502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定位口径</a:t>
            </a:r>
          </a:p>
        </p:txBody>
      </p:sp>
      <p:sp>
        <p:nvSpPr>
          <p:cNvPr id="14" name="flow-l-2-desc">
            <a:extLst xmlns:a="http://schemas.openxmlformats.org/drawingml/2006/main">
              <a:ext uri="{FF2B5EF4-FFF2-40B4-BE49-F238E27FC236}">
                <a16:creationId xmlns:a16="http://schemas.microsoft.com/office/drawing/2014/main" id="{8FC7ACF4-4CF0-481B-99F7-D2690DF2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968" y="3667125"/>
            <a:ext cx="50292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t>数据目录 → 配置表 → 字段与单位</a:t>
            </a:r>
          </a:p>
        </p:txBody>
      </p:sp>
      <p:sp>
        <p:nvSpPr>
          <p:cNvPr id="15" name="flow-l-3-chip">
            <a:extLst xmlns:a="http://schemas.openxmlformats.org/drawingml/2006/main">
              <a:ext uri="{FF2B5EF4-FFF2-40B4-BE49-F238E27FC236}">
                <a16:creationId xmlns:a16="http://schemas.microsoft.com/office/drawing/2014/main" id="{E82A8328-F190-41A7-93CB-D118BEC0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577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flow-l-3-no">
            <a:extLst xmlns:a="http://schemas.openxmlformats.org/drawingml/2006/main">
              <a:ext uri="{FF2B5EF4-FFF2-40B4-BE49-F238E27FC236}">
                <a16:creationId xmlns:a16="http://schemas.microsoft.com/office/drawing/2014/main" id="{95518E7F-0D5D-45B7-B723-BECC0E2B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5775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17" name="flow-l-3-title">
            <a:extLst xmlns:a="http://schemas.openxmlformats.org/drawingml/2006/main">
              <a:ext uri="{FF2B5EF4-FFF2-40B4-BE49-F238E27FC236}">
                <a16:creationId xmlns:a16="http://schemas.microsoft.com/office/drawing/2014/main" id="{556EF3C7-FA51-4702-8E1B-EBD2C55F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968" y="4857750"/>
            <a:ext cx="502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推导复算</a:t>
            </a:r>
          </a:p>
        </p:txBody>
      </p:sp>
      <p:sp>
        <p:nvSpPr>
          <p:cNvPr id="18" name="flow-l-3-desc">
            <a:extLst xmlns:a="http://schemas.openxmlformats.org/drawingml/2006/main">
              <a:ext uri="{FF2B5EF4-FFF2-40B4-BE49-F238E27FC236}">
                <a16:creationId xmlns:a16="http://schemas.microsoft.com/office/drawing/2014/main" id="{194838A7-7A29-4EC8-A219-1EB0224D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968" y="5143500"/>
            <a:ext cx="50292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t>跑模拟脚本，保留中间结果</a:t>
            </a:r>
          </a:p>
        </p:txBody>
      </p:sp>
      <p:sp>
        <p:nvSpPr>
          <p:cNvPr id="19" name="flow-r-1-chip">
            <a:extLst xmlns:a="http://schemas.openxmlformats.org/drawingml/2006/main">
              <a:ext uri="{FF2B5EF4-FFF2-40B4-BE49-F238E27FC236}">
                <a16:creationId xmlns:a16="http://schemas.microsoft.com/office/drawing/2014/main" id="{5B588147-0FB2-40FD-AEBB-90B2294D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19050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flow-r-1-no">
            <a:extLst xmlns:a="http://schemas.openxmlformats.org/drawingml/2006/main">
              <a:ext uri="{FF2B5EF4-FFF2-40B4-BE49-F238E27FC236}">
                <a16:creationId xmlns:a16="http://schemas.microsoft.com/office/drawing/2014/main" id="{908D2CC2-1EBF-464E-B1E0-FF11CCFE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19050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1" name="flow-r-1-title">
            <a:extLst xmlns:a="http://schemas.openxmlformats.org/drawingml/2006/main">
              <a:ext uri="{FF2B5EF4-FFF2-40B4-BE49-F238E27FC236}">
                <a16:creationId xmlns:a16="http://schemas.microsoft.com/office/drawing/2014/main" id="{4B1FFBCC-A963-4FD5-A76E-ABC043AF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369" y="1905000"/>
            <a:ext cx="50387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生成报告</a:t>
            </a:r>
          </a:p>
        </p:txBody>
      </p:sp>
      <p:sp>
        <p:nvSpPr>
          <p:cNvPr id="22" name="flow-r-1-desc">
            <a:extLst xmlns:a="http://schemas.openxmlformats.org/drawingml/2006/main">
              <a:ext uri="{FF2B5EF4-FFF2-40B4-BE49-F238E27FC236}">
                <a16:creationId xmlns:a16="http://schemas.microsoft.com/office/drawing/2014/main" id="{82447E0C-D78B-4BAA-897F-17B1F58C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369" y="2190750"/>
            <a:ext cx="5038725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t>MD 结论 + HTML 可视化</a:t>
            </a:r>
          </a:p>
        </p:txBody>
      </p:sp>
      <p:sp>
        <p:nvSpPr>
          <p:cNvPr id="23" name="flow-r-2-chip">
            <a:extLst xmlns:a="http://schemas.openxmlformats.org/drawingml/2006/main">
              <a:ext uri="{FF2B5EF4-FFF2-40B4-BE49-F238E27FC236}">
                <a16:creationId xmlns:a16="http://schemas.microsoft.com/office/drawing/2014/main" id="{2B224E36-BD27-4DE3-A3B1-C7D3AA0B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338137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flow-r-2-no">
            <a:extLst xmlns:a="http://schemas.openxmlformats.org/drawingml/2006/main">
              <a:ext uri="{FF2B5EF4-FFF2-40B4-BE49-F238E27FC236}">
                <a16:creationId xmlns:a16="http://schemas.microsoft.com/office/drawing/2014/main" id="{B9223E86-ED77-4C07-85A2-EE270828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33813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5" name="flow-r-2-title">
            <a:extLst xmlns:a="http://schemas.openxmlformats.org/drawingml/2006/main">
              <a:ext uri="{FF2B5EF4-FFF2-40B4-BE49-F238E27FC236}">
                <a16:creationId xmlns:a16="http://schemas.microsoft.com/office/drawing/2014/main" id="{3ED0A1B7-6B38-4B3D-A836-D3D10B9B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369" y="3381375"/>
            <a:ext cx="50387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仓库校验</a:t>
            </a:r>
          </a:p>
        </p:txBody>
      </p:sp>
      <p:sp>
        <p:nvSpPr>
          <p:cNvPr id="26" name="flow-r-2-desc">
            <a:extLst xmlns:a="http://schemas.openxmlformats.org/drawingml/2006/main">
              <a:ext uri="{FF2B5EF4-FFF2-40B4-BE49-F238E27FC236}">
                <a16:creationId xmlns:a16="http://schemas.microsoft.com/office/drawing/2014/main" id="{374A8EB7-CA62-4DED-875C-3334DC4D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369" y="3667125"/>
            <a:ext cx="5038725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t>validate_repository.py 0 错误</a:t>
            </a:r>
          </a:p>
        </p:txBody>
      </p:sp>
      <p:sp>
        <p:nvSpPr>
          <p:cNvPr id="27" name="flow-r-3-chip">
            <a:extLst xmlns:a="http://schemas.openxmlformats.org/drawingml/2006/main">
              <a:ext uri="{FF2B5EF4-FFF2-40B4-BE49-F238E27FC236}">
                <a16:creationId xmlns:a16="http://schemas.microsoft.com/office/drawing/2014/main" id="{6B79F3C8-400E-4D5A-8D10-7BEBAAAF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48577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flow-r-3-no">
            <a:extLst xmlns:a="http://schemas.openxmlformats.org/drawingml/2006/main">
              <a:ext uri="{FF2B5EF4-FFF2-40B4-BE49-F238E27FC236}">
                <a16:creationId xmlns:a16="http://schemas.microsoft.com/office/drawing/2014/main" id="{4F0FB755-70B4-40D5-A1D9-221AB7F7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485775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9" name="flow-r-3-title">
            <a:extLst xmlns:a="http://schemas.openxmlformats.org/drawingml/2006/main">
              <a:ext uri="{FF2B5EF4-FFF2-40B4-BE49-F238E27FC236}">
                <a16:creationId xmlns:a16="http://schemas.microsoft.com/office/drawing/2014/main" id="{F1E0CB77-5E00-485E-9F96-597FAB23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369" y="4857750"/>
            <a:ext cx="50387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提交留证</a:t>
            </a:r>
          </a:p>
        </p:txBody>
      </p:sp>
      <p:sp>
        <p:nvSpPr>
          <p:cNvPr id="30" name="flow-r-3-desc">
            <a:extLst xmlns:a="http://schemas.openxmlformats.org/drawingml/2006/main">
              <a:ext uri="{FF2B5EF4-FFF2-40B4-BE49-F238E27FC236}">
                <a16:creationId xmlns:a16="http://schemas.microsoft.com/office/drawing/2014/main" id="{F6E16650-EE09-4B04-A895-D2896D00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369" y="5143500"/>
            <a:ext cx="5038725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t>svn_submit.py 演练 → 执行 → rXXXX</a:t>
            </a:r>
          </a:p>
        </p:txBody>
      </p:sp>
      <p:sp>
        <p:nvSpPr>
          <p:cNvPr id="31" name="flow-note">
            <a:extLst xmlns:a="http://schemas.openxmlformats.org/drawingml/2006/main">
              <a:ext uri="{FF2B5EF4-FFF2-40B4-BE49-F238E27FC236}">
                <a16:creationId xmlns:a16="http://schemas.microsoft.com/office/drawing/2014/main" id="{0388BCD4-3CB2-4990-B401-BB40331B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038850"/>
            <a:ext cx="1140142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7706"/>
                </a:solidFill>
                <a:latin typeface="Helvetica Neue"/>
                <a:ea typeface="Helvetica Neue"/>
                <a:cs typeface="Helvetica Neue"/>
              </a:defRPr>
            </a:pPr>
            <a:r>
              <a:t>红线提醒：只改快照、先演练后提交、未知口径标“待确认”</a:t>
            </a:r>
          </a:p>
        </p:txBody>
      </p:sp>
    </p:spTree>
    <p:extLst>
      <p:ext uri="{BB962C8B-B14F-4D97-AF65-F5344CB8AC3E}">
        <p14:creationId xmlns:p14="http://schemas.microsoft.com/office/powerpoint/2010/main" val="167193462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9">
            <a:extLst xmlns:a="http://schemas.openxmlformats.org/drawingml/2006/main">
              <a:ext uri="{FF2B5EF4-FFF2-40B4-BE49-F238E27FC236}">
                <a16:creationId xmlns:a16="http://schemas.microsoft.com/office/drawing/2014/main" id="{D51F01B6-DC46-48BD-8F21-AD200ED6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5750"/>
            <a:ext cx="5334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t>多端协作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A98D587F-B017-4CFF-8CC4-527DBFB8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71500"/>
            <a:ext cx="11404568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不挑工具：Codex 和 Trae_cn + DeepSeek 都能用</a:t>
            </a:r>
          </a:p>
        </p:txBody>
      </p:sp>
      <p:sp>
        <p:nvSpPr>
          <p:cNvPr id="3" name="rule-9">
            <a:extLst xmlns:a="http://schemas.openxmlformats.org/drawingml/2006/main">
              <a:ext uri="{FF2B5EF4-FFF2-40B4-BE49-F238E27FC236}">
                <a16:creationId xmlns:a16="http://schemas.microsoft.com/office/drawing/2014/main" id="{3DD3951A-55F7-4A21-B1FC-954B6940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11404568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accent-9">
            <a:extLst xmlns:a="http://schemas.openxmlformats.org/drawingml/2006/main">
              <a:ext uri="{FF2B5EF4-FFF2-40B4-BE49-F238E27FC236}">
                <a16:creationId xmlns:a16="http://schemas.microsoft.com/office/drawing/2014/main" id="{5C12B828-3B0D-4741-9956-97A4F105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47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footer-left-9">
            <a:extLst xmlns:a="http://schemas.openxmlformats.org/drawingml/2006/main">
              <a:ext uri="{FF2B5EF4-FFF2-40B4-BE49-F238E27FC236}">
                <a16:creationId xmlns:a16="http://schemas.microsoft.com/office/drawing/2014/main" id="{47172EBC-1855-4358-B777-2B974145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96050"/>
            <a:ext cx="419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t>CR 数值策划资源库 · 使用说明</a:t>
            </a:r>
          </a:p>
        </p:txBody>
      </p:sp>
      <p:sp>
        <p:nvSpPr>
          <p:cNvPr id="6" name="footer-right-9">
            <a:extLst xmlns:a="http://schemas.openxmlformats.org/drawingml/2006/main">
              <a:ext uri="{FF2B5EF4-FFF2-40B4-BE49-F238E27FC236}">
                <a16:creationId xmlns:a16="http://schemas.microsoft.com/office/drawing/2014/main" id="{DDE8A4EF-5FF4-4795-8B5B-147E9E20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438900"/>
            <a:ext cx="518922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7" name="multi-intro">
            <a:extLst xmlns:a="http://schemas.openxmlformats.org/drawingml/2006/main">
              <a:ext uri="{FF2B5EF4-FFF2-40B4-BE49-F238E27FC236}">
                <a16:creationId xmlns:a16="http://schemas.microsoft.com/office/drawing/2014/main" id="{4936985A-7F5D-496F-B3BE-71E9663E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90700"/>
            <a:ext cx="11404568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t>协作入口都放在仓库里，客户端只负责执行</a:t>
            </a:r>
          </a:p>
        </p:txBody>
      </p:sp>
      <p:sp>
        <p:nvSpPr>
          <p:cNvPr id="8" name="multi-1-bg">
            <a:extLst xmlns:a="http://schemas.openxmlformats.org/drawingml/2006/main">
              <a:ext uri="{FF2B5EF4-FFF2-40B4-BE49-F238E27FC236}">
                <a16:creationId xmlns:a16="http://schemas.microsoft.com/office/drawing/2014/main" id="{B1256718-903F-4131-8167-5C2C12D0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1750"/>
            <a:ext cx="3568732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9" name="multi-1-strip">
            <a:extLst xmlns:a="http://schemas.openxmlformats.org/drawingml/2006/main">
              <a:ext uri="{FF2B5EF4-FFF2-40B4-BE49-F238E27FC236}">
                <a16:creationId xmlns:a16="http://schemas.microsoft.com/office/drawing/2014/main" id="{54C0ED15-0B4C-403E-84E4-E6535E40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1750"/>
            <a:ext cx="3568732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multi-1-stat">
            <a:extLst xmlns:a="http://schemas.openxmlformats.org/drawingml/2006/main">
              <a:ext uri="{FF2B5EF4-FFF2-40B4-BE49-F238E27FC236}">
                <a16:creationId xmlns:a16="http://schemas.microsoft.com/office/drawing/2014/main" id="{3D032DDB-2B1D-49A8-8775-C04D67DB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8" y="2838450"/>
            <a:ext cx="3073432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t>Codex</a:t>
            </a:r>
          </a:p>
        </p:txBody>
      </p:sp>
      <p:sp>
        <p:nvSpPr>
          <p:cNvPr id="11" name="multi-1-body">
            <a:extLst xmlns:a="http://schemas.openxmlformats.org/drawingml/2006/main">
              <a:ext uri="{FF2B5EF4-FFF2-40B4-BE49-F238E27FC236}">
                <a16:creationId xmlns:a16="http://schemas.microsoft.com/office/drawing/2014/main" id="{B65B2D17-BF16-46CC-862F-5F4927A4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8" y="3638550"/>
            <a:ext cx="3073432" cy="186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t>完整技能路由 + 项目记忆，任务续接不需要重述背景。</a:t>
            </a:r>
          </a:p>
        </p:txBody>
      </p:sp>
      <p:sp>
        <p:nvSpPr>
          <p:cNvPr id="12" name="multi-2-bg">
            <a:extLst xmlns:a="http://schemas.openxmlformats.org/drawingml/2006/main">
              <a:ext uri="{FF2B5EF4-FFF2-40B4-BE49-F238E27FC236}">
                <a16:creationId xmlns:a16="http://schemas.microsoft.com/office/drawing/2014/main" id="{C6DD7A52-6A74-4246-8F50-684F8C48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2571750"/>
            <a:ext cx="3568732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13" name="multi-2-strip">
            <a:extLst xmlns:a="http://schemas.openxmlformats.org/drawingml/2006/main">
              <a:ext uri="{FF2B5EF4-FFF2-40B4-BE49-F238E27FC236}">
                <a16:creationId xmlns:a16="http://schemas.microsoft.com/office/drawing/2014/main" id="{E57E894D-6DDD-44B1-99D1-CEE4B0EB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2571750"/>
            <a:ext cx="3568732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multi-2-stat">
            <a:extLst xmlns:a="http://schemas.openxmlformats.org/drawingml/2006/main">
              <a:ext uri="{FF2B5EF4-FFF2-40B4-BE49-F238E27FC236}">
                <a16:creationId xmlns:a16="http://schemas.microsoft.com/office/drawing/2014/main" id="{58C03A94-C73E-4FBC-8549-64C83E9B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332" y="2838450"/>
            <a:ext cx="3073432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defRPr>
            </a:pPr>
            <a:r>
              <a:t>Trae_cn+DeepSeek</a:t>
            </a:r>
          </a:p>
        </p:txBody>
      </p:sp>
      <p:sp>
        <p:nvSpPr>
          <p:cNvPr id="15" name="multi-2-body">
            <a:extLst xmlns:a="http://schemas.openxmlformats.org/drawingml/2006/main">
              <a:ext uri="{FF2B5EF4-FFF2-40B4-BE49-F238E27FC236}">
                <a16:creationId xmlns:a16="http://schemas.microsoft.com/office/drawing/2014/main" id="{B6023884-B9DB-411D-B004-0EE96233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332" y="3638550"/>
            <a:ext cx="3073432" cy="186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t>AGENTS.md 与 cr-* 技能是纯 Markdown，Python 3 脚本只用标准库，可直接运行。</a:t>
            </a:r>
          </a:p>
        </p:txBody>
      </p:sp>
      <p:sp>
        <p:nvSpPr>
          <p:cNvPr id="16" name="multi-3-bg">
            <a:extLst xmlns:a="http://schemas.openxmlformats.org/drawingml/2006/main">
              <a:ext uri="{FF2B5EF4-FFF2-40B4-BE49-F238E27FC236}">
                <a16:creationId xmlns:a16="http://schemas.microsoft.com/office/drawing/2014/main" id="{B3A7EE73-946A-45CC-9377-DE8A8EA7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2571750"/>
            <a:ext cx="3568732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17" name="multi-3-strip">
            <a:extLst xmlns:a="http://schemas.openxmlformats.org/drawingml/2006/main">
              <a:ext uri="{FF2B5EF4-FFF2-40B4-BE49-F238E27FC236}">
                <a16:creationId xmlns:a16="http://schemas.microsoft.com/office/drawing/2014/main" id="{BE1D5E79-F253-4301-9476-BE740FCA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2571750"/>
            <a:ext cx="3568732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multi-3-stat">
            <a:extLst xmlns:a="http://schemas.openxmlformats.org/drawingml/2006/main">
              <a:ext uri="{FF2B5EF4-FFF2-40B4-BE49-F238E27FC236}">
                <a16:creationId xmlns:a16="http://schemas.microsoft.com/office/drawing/2014/main" id="{00C923E9-1D8C-4E8D-9EC2-262FFF6B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9917" y="2838450"/>
            <a:ext cx="3073432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D97706"/>
                </a:solidFill>
                <a:latin typeface="Helvetica Neue"/>
                <a:ea typeface="Helvetica Neue"/>
                <a:cs typeface="Helvetica Neue"/>
              </a:defRPr>
            </a:pPr>
            <a:r>
              <a:t>其他 AI 助手</a:t>
            </a:r>
          </a:p>
        </p:txBody>
      </p:sp>
      <p:sp>
        <p:nvSpPr>
          <p:cNvPr id="19" name="multi-3-body">
            <a:extLst xmlns:a="http://schemas.openxmlformats.org/drawingml/2006/main">
              <a:ext uri="{FF2B5EF4-FFF2-40B4-BE49-F238E27FC236}">
                <a16:creationId xmlns:a16="http://schemas.microsoft.com/office/drawing/2014/main" id="{F28720D5-E262-4EDA-A96C-C62CDDD7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9917" y="3638550"/>
            <a:ext cx="3073432" cy="186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t>只要按 AGENTS.md 读记忆、跑脚本，产出与 Codex 一致。</a:t>
            </a:r>
          </a:p>
        </p:txBody>
      </p:sp>
      <p:sp>
        <p:nvSpPr>
          <p:cNvPr id="20" name="multi-note">
            <a:extLst xmlns:a="http://schemas.openxmlformats.org/drawingml/2006/main">
              <a:ext uri="{FF2B5EF4-FFF2-40B4-BE49-F238E27FC236}">
                <a16:creationId xmlns:a16="http://schemas.microsoft.com/office/drawing/2014/main" id="{74CCC614-BB7B-49F7-BC72-AAAC17DC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057900"/>
            <a:ext cx="10858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t>换工具唯一要做的：先读 数值策划/知识库/项目记忆.md，再按 AGENTS.md 执行。</a:t>
            </a:r>
          </a:p>
        </p:txBody>
      </p:sp>
    </p:spTree>
    <p:extLst>
      <p:ext uri="{BB962C8B-B14F-4D97-AF65-F5344CB8AC3E}">
        <p14:creationId xmlns:p14="http://schemas.microsoft.com/office/powerpoint/2010/main" val="17224698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10">
            <a:extLst xmlns:a="http://schemas.openxmlformats.org/drawingml/2006/main">
              <a:ext uri="{FF2B5EF4-FFF2-40B4-BE49-F238E27FC236}">
                <a16:creationId xmlns:a16="http://schemas.microsoft.com/office/drawing/2014/main" id="{70A7159B-9648-4794-85AB-91459843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5750"/>
            <a:ext cx="5334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t>实操示例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019EA707-1AAF-4171-84F9-E6CB5265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71500"/>
            <a:ext cx="11404568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一次完整需求，怎么写清楚</a:t>
            </a:r>
          </a:p>
        </p:txBody>
      </p:sp>
      <p:sp>
        <p:nvSpPr>
          <p:cNvPr id="3" name="rule-10">
            <a:extLst xmlns:a="http://schemas.openxmlformats.org/drawingml/2006/main">
              <a:ext uri="{FF2B5EF4-FFF2-40B4-BE49-F238E27FC236}">
                <a16:creationId xmlns:a16="http://schemas.microsoft.com/office/drawing/2014/main" id="{3DD5055B-246C-4623-AF5A-EE2D77BA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11404568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accent-10">
            <a:extLst xmlns:a="http://schemas.openxmlformats.org/drawingml/2006/main">
              <a:ext uri="{FF2B5EF4-FFF2-40B4-BE49-F238E27FC236}">
                <a16:creationId xmlns:a16="http://schemas.microsoft.com/office/drawing/2014/main" id="{92203980-B41E-43CC-B70A-A331FA21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47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footer-left-10">
            <a:extLst xmlns:a="http://schemas.openxmlformats.org/drawingml/2006/main">
              <a:ext uri="{FF2B5EF4-FFF2-40B4-BE49-F238E27FC236}">
                <a16:creationId xmlns:a16="http://schemas.microsoft.com/office/drawing/2014/main" id="{5FB71A02-F85A-41C1-B961-983E4AEA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96050"/>
            <a:ext cx="419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t>CR 数值策划资源库 · 使用说明</a:t>
            </a:r>
          </a:p>
        </p:txBody>
      </p:sp>
      <p:sp>
        <p:nvSpPr>
          <p:cNvPr id="6" name="footer-right-10">
            <a:extLst xmlns:a="http://schemas.openxmlformats.org/drawingml/2006/main">
              <a:ext uri="{FF2B5EF4-FFF2-40B4-BE49-F238E27FC236}">
                <a16:creationId xmlns:a16="http://schemas.microsoft.com/office/drawing/2014/main" id="{5DEFE3B6-BA03-4EDE-A649-27704428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438900"/>
            <a:ext cx="518922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7" name="case-panel">
            <a:extLst xmlns:a="http://schemas.openxmlformats.org/drawingml/2006/main">
              <a:ext uri="{FF2B5EF4-FFF2-40B4-BE49-F238E27FC236}">
                <a16:creationId xmlns:a16="http://schemas.microsoft.com/office/drawing/2014/main" id="{B0FD4C2C-5557-4B74-9A3C-7B23C589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05000"/>
            <a:ext cx="11404568" cy="3810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case-label">
            <a:extLst xmlns:a="http://schemas.openxmlformats.org/drawingml/2006/main">
              <a:ext uri="{FF2B5EF4-FFF2-40B4-BE49-F238E27FC236}">
                <a16:creationId xmlns:a16="http://schemas.microsoft.com/office/drawing/2014/main" id="{D072C96F-46C6-4792-B9E4-32CE4AEC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190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93C5FD"/>
                </a:solidFill>
                <a:latin typeface="Helvetica Neue"/>
                <a:ea typeface="Helvetica Neue"/>
                <a:cs typeface="Helvetica Neue"/>
              </a:defRPr>
            </a:pPr>
            <a:r>
              <a:t>需求原文</a:t>
            </a:r>
          </a:p>
        </p:txBody>
      </p:sp>
      <p:sp>
        <p:nvSpPr>
          <p:cNvPr id="9" name="case-body">
            <a:extLst xmlns:a="http://schemas.openxmlformats.org/drawingml/2006/main">
              <a:ext uri="{FF2B5EF4-FFF2-40B4-BE49-F238E27FC236}">
                <a16:creationId xmlns:a16="http://schemas.microsoft.com/office/drawing/2014/main" id="{2D1B5B43-4421-4BBA-957D-F06788AB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108585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将建造模块的升级方式从“翻地块升级”改为“老虎机 Spin 升级”，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等级经验改由 Spin 产出；同时把建造难度消耗整体提高 30%。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最终修改对应配置表并提交到 dev SVN，附提交证据。</a:t>
            </a:r>
          </a:p>
        </p:txBody>
      </p:sp>
      <p:sp>
        <p:nvSpPr>
          <p:cNvPr id="10" name="case-tag-1-bg">
            <a:extLst xmlns:a="http://schemas.openxmlformats.org/drawingml/2006/main">
              <a:ext uri="{FF2B5EF4-FFF2-40B4-BE49-F238E27FC236}">
                <a16:creationId xmlns:a16="http://schemas.microsoft.com/office/drawing/2014/main" id="{5701EF65-3B53-46CF-9130-40097B7F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case-tag-1-text">
            <a:extLst xmlns:a="http://schemas.openxmlformats.org/drawingml/2006/main">
              <a:ext uri="{FF2B5EF4-FFF2-40B4-BE49-F238E27FC236}">
                <a16:creationId xmlns:a16="http://schemas.microsoft.com/office/drawing/2014/main" id="{81A314C8-C74C-42C9-9D62-77806AE2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3086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E0F2FE"/>
                </a:solidFill>
                <a:latin typeface="Helvetica Neue"/>
                <a:ea typeface="Helvetica Neue"/>
                <a:cs typeface="Helvetica Neue"/>
              </a:defRPr>
            </a:pPr>
            <a:r>
              <a:t>改 BuildLevelCfg / Spin 经验表</a:t>
            </a:r>
          </a:p>
        </p:txBody>
      </p:sp>
      <p:sp>
        <p:nvSpPr>
          <p:cNvPr id="12" name="case-tag-2-bg">
            <a:extLst xmlns:a="http://schemas.openxmlformats.org/drawingml/2006/main">
              <a:ext uri="{FF2B5EF4-FFF2-40B4-BE49-F238E27FC236}">
                <a16:creationId xmlns:a16="http://schemas.microsoft.com/office/drawing/2014/main" id="{EA028681-F260-44A6-9AEC-DE2B75D9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43500"/>
            <a:ext cx="2286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case-tag-2-text">
            <a:extLst xmlns:a="http://schemas.openxmlformats.org/drawingml/2006/main">
              <a:ext uri="{FF2B5EF4-FFF2-40B4-BE49-F238E27FC236}">
                <a16:creationId xmlns:a16="http://schemas.microsoft.com/office/drawing/2014/main" id="{7329D896-8B31-4EEC-83ED-88E3E626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143500"/>
            <a:ext cx="1943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FEF3C7"/>
                </a:solidFill>
                <a:latin typeface="Helvetica Neue"/>
                <a:ea typeface="Helvetica Neue"/>
                <a:cs typeface="Helvetica Neue"/>
              </a:defRPr>
            </a:pPr>
            <a:r>
              <a:t>难度消耗 +30%</a:t>
            </a:r>
          </a:p>
        </p:txBody>
      </p:sp>
      <p:sp>
        <p:nvSpPr>
          <p:cNvPr id="14" name="case-tag-3-bg">
            <a:extLst xmlns:a="http://schemas.openxmlformats.org/drawingml/2006/main">
              <a:ext uri="{FF2B5EF4-FFF2-40B4-BE49-F238E27FC236}">
                <a16:creationId xmlns:a16="http://schemas.microsoft.com/office/drawing/2014/main" id="{B35E7364-6AE2-4A87-AF0A-EF68F323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1435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case-tag-3-text">
            <a:extLst xmlns:a="http://schemas.openxmlformats.org/drawingml/2006/main">
              <a:ext uri="{FF2B5EF4-FFF2-40B4-BE49-F238E27FC236}">
                <a16:creationId xmlns:a16="http://schemas.microsoft.com/office/drawing/2014/main" id="{05B7E9BE-1C56-4537-90B5-F5DB1279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43500"/>
            <a:ext cx="4229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D1FAE5"/>
                </a:solidFill>
                <a:latin typeface="Helvetica Neue"/>
                <a:ea typeface="Helvetica Neue"/>
                <a:cs typeface="Helvetica Neue"/>
              </a:defRPr>
            </a:pPr>
            <a:r>
              <a:t>提交 dev SVN，附提交证据</a:t>
            </a:r>
          </a:p>
        </p:txBody>
      </p:sp>
    </p:spTree>
    <p:extLst>
      <p:ext uri="{BB962C8B-B14F-4D97-AF65-F5344CB8AC3E}">
        <p14:creationId xmlns:p14="http://schemas.microsoft.com/office/powerpoint/2010/main" val="18543891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eyebrow-7">
            <a:extLst xmlns:a="http://schemas.openxmlformats.org/drawingml/2006/main">
              <a:ext uri="{FF2B5EF4-FFF2-40B4-BE49-F238E27FC236}">
                <a16:creationId xmlns:a16="http://schemas.microsoft.com/office/drawing/2014/main" id="{C1601078-54B2-43C4-BDD8-FD35EC41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5750"/>
            <a:ext cx="5334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可优化项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5203645A-8324-43D9-8016-599EC527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71500"/>
            <a:ext cx="11404568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用起来还能更好：六条优化方向</a:t>
            </a:r>
          </a:p>
        </p:txBody>
      </p:sp>
      <p:sp>
        <p:nvSpPr>
          <p:cNvPr id="3" name="rule-7">
            <a:extLst xmlns:a="http://schemas.openxmlformats.org/drawingml/2006/main">
              <a:ext uri="{FF2B5EF4-FFF2-40B4-BE49-F238E27FC236}">
                <a16:creationId xmlns:a16="http://schemas.microsoft.com/office/drawing/2014/main" id="{EA7686E0-C58B-421C-9BC2-EB7D19F5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11404568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accent-7">
            <a:extLst xmlns:a="http://schemas.openxmlformats.org/drawingml/2006/main">
              <a:ext uri="{FF2B5EF4-FFF2-40B4-BE49-F238E27FC236}">
                <a16:creationId xmlns:a16="http://schemas.microsoft.com/office/drawing/2014/main" id="{03B5842D-751E-4951-A7C6-584FCB49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47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footer-left-7">
            <a:extLst xmlns:a="http://schemas.openxmlformats.org/drawingml/2006/main">
              <a:ext uri="{FF2B5EF4-FFF2-40B4-BE49-F238E27FC236}">
                <a16:creationId xmlns:a16="http://schemas.microsoft.com/office/drawing/2014/main" id="{FDE2D530-9445-4278-AE74-B7615BBB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96050"/>
            <a:ext cx="419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t>CR 数值策划资源库 · 使用说明</a:t>
            </a:r>
          </a:p>
        </p:txBody>
      </p:sp>
      <p:sp>
        <p:nvSpPr>
          <p:cNvPr id="6" name="footer-right-7">
            <a:extLst xmlns:a="http://schemas.openxmlformats.org/drawingml/2006/main">
              <a:ext uri="{FF2B5EF4-FFF2-40B4-BE49-F238E27FC236}">
                <a16:creationId xmlns:a16="http://schemas.microsoft.com/office/drawing/2014/main" id="{491EA2D0-E2FE-493E-899B-8EB64E62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438900"/>
            <a:ext cx="518922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7" name="flow-l-1-chip">
            <a:extLst xmlns:a="http://schemas.openxmlformats.org/drawingml/2006/main">
              <a:ext uri="{FF2B5EF4-FFF2-40B4-BE49-F238E27FC236}">
                <a16:creationId xmlns:a16="http://schemas.microsoft.com/office/drawing/2014/main" id="{CE344EB1-795E-40DE-8A27-F8C990F3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050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low-l-1-no">
            <a:extLst xmlns:a="http://schemas.openxmlformats.org/drawingml/2006/main">
              <a:ext uri="{FF2B5EF4-FFF2-40B4-BE49-F238E27FC236}">
                <a16:creationId xmlns:a16="http://schemas.microsoft.com/office/drawing/2014/main" id="{B88D0CF8-A8DD-4885-B169-0E889FA0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050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9" name="flow-l-1-title">
            <a:extLst xmlns:a="http://schemas.openxmlformats.org/drawingml/2006/main">
              <a:ext uri="{FF2B5EF4-FFF2-40B4-BE49-F238E27FC236}">
                <a16:creationId xmlns:a16="http://schemas.microsoft.com/office/drawing/2014/main" id="{64B22AF5-99D9-4392-8E2B-5182E103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968" y="1905000"/>
            <a:ext cx="502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SVN 冲突</a:t>
            </a:r>
          </a:p>
        </p:txBody>
      </p:sp>
      <p:sp>
        <p:nvSpPr>
          <p:cNvPr id="10" name="flow-l-1-desc">
            <a:extLst xmlns:a="http://schemas.openxmlformats.org/drawingml/2006/main">
              <a:ext uri="{FF2B5EF4-FFF2-40B4-BE49-F238E27FC236}">
                <a16:creationId xmlns:a16="http://schemas.microsoft.com/office/drawing/2014/main" id="{EA5D2912-DCFB-4A23-AE11-0F6A3B2F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968" y="2190750"/>
            <a:ext cx="50292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多人同改一个配置：先 update，再合并，提交前跑校验</a:t>
            </a:r>
          </a:p>
        </p:txBody>
      </p:sp>
      <p:sp>
        <p:nvSpPr>
          <p:cNvPr id="11" name="flow-l-2-chip">
            <a:extLst xmlns:a="http://schemas.openxmlformats.org/drawingml/2006/main">
              <a:ext uri="{FF2B5EF4-FFF2-40B4-BE49-F238E27FC236}">
                <a16:creationId xmlns:a16="http://schemas.microsoft.com/office/drawing/2014/main" id="{5C9D2002-C38B-42D3-BA55-FF8BF455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8137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flow-l-2-no">
            <a:extLst xmlns:a="http://schemas.openxmlformats.org/drawingml/2006/main">
              <a:ext uri="{FF2B5EF4-FFF2-40B4-BE49-F238E27FC236}">
                <a16:creationId xmlns:a16="http://schemas.microsoft.com/office/drawing/2014/main" id="{7100F08D-F9D5-443E-AEF1-648A89EC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813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13" name="flow-l-2-title">
            <a:extLst xmlns:a="http://schemas.openxmlformats.org/drawingml/2006/main">
              <a:ext uri="{FF2B5EF4-FFF2-40B4-BE49-F238E27FC236}">
                <a16:creationId xmlns:a16="http://schemas.microsoft.com/office/drawing/2014/main" id="{AE02D38B-C6D4-49DD-B061-ACF22DB1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968" y="3381375"/>
            <a:ext cx="502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口径歧义</a:t>
            </a:r>
          </a:p>
        </p:txBody>
      </p:sp>
      <p:sp>
        <p:nvSpPr>
          <p:cNvPr id="14" name="flow-l-2-desc">
            <a:extLst xmlns:a="http://schemas.openxmlformats.org/drawingml/2006/main">
              <a:ext uri="{FF2B5EF4-FFF2-40B4-BE49-F238E27FC236}">
                <a16:creationId xmlns:a16="http://schemas.microsoft.com/office/drawing/2014/main" id="{8FC7ACF4-4CF0-481B-99F7-D2690DF2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968" y="3667125"/>
            <a:ext cx="50292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同一字段理解不一致：先查术语表，新口径写入项目记忆</a:t>
            </a:r>
          </a:p>
        </p:txBody>
      </p:sp>
      <p:sp>
        <p:nvSpPr>
          <p:cNvPr id="15" name="flow-l-3-chip">
            <a:extLst xmlns:a="http://schemas.openxmlformats.org/drawingml/2006/main">
              <a:ext uri="{FF2B5EF4-FFF2-40B4-BE49-F238E27FC236}">
                <a16:creationId xmlns:a16="http://schemas.microsoft.com/office/drawing/2014/main" id="{E82A8328-F190-41A7-93CB-D118BEC0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577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flow-l-3-no">
            <a:extLst xmlns:a="http://schemas.openxmlformats.org/drawingml/2006/main">
              <a:ext uri="{FF2B5EF4-FFF2-40B4-BE49-F238E27FC236}">
                <a16:creationId xmlns:a16="http://schemas.microsoft.com/office/drawing/2014/main" id="{95518E7F-0D5D-45B7-B723-BECC0E2B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5775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17" name="flow-l-3-title">
            <a:extLst xmlns:a="http://schemas.openxmlformats.org/drawingml/2006/main">
              <a:ext uri="{FF2B5EF4-FFF2-40B4-BE49-F238E27FC236}">
                <a16:creationId xmlns:a16="http://schemas.microsoft.com/office/drawing/2014/main" id="{556EF3C7-FA51-4702-8E1B-EBD2C55F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968" y="4857750"/>
            <a:ext cx="502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快照漂移</a:t>
            </a:r>
          </a:p>
        </p:txBody>
      </p:sp>
      <p:sp>
        <p:nvSpPr>
          <p:cNvPr id="18" name="flow-l-3-desc">
            <a:extLst xmlns:a="http://schemas.openxmlformats.org/drawingml/2006/main">
              <a:ext uri="{FF2B5EF4-FFF2-40B4-BE49-F238E27FC236}">
                <a16:creationId xmlns:a16="http://schemas.microsoft.com/office/drawing/2014/main" id="{194838A7-7A29-4EC8-A219-1EB0224D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968" y="5143500"/>
            <a:ext cx="50292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源表与程序快照不同步：定期 sync + 哈希核对</a:t>
            </a:r>
          </a:p>
        </p:txBody>
      </p:sp>
      <p:sp>
        <p:nvSpPr>
          <p:cNvPr id="19" name="flow-r-1-chip">
            <a:extLst xmlns:a="http://schemas.openxmlformats.org/drawingml/2006/main">
              <a:ext uri="{FF2B5EF4-FFF2-40B4-BE49-F238E27FC236}">
                <a16:creationId xmlns:a16="http://schemas.microsoft.com/office/drawing/2014/main" id="{5B588147-0FB2-40FD-AEBB-90B2294D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19050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flow-r-1-no">
            <a:extLst xmlns:a="http://schemas.openxmlformats.org/drawingml/2006/main">
              <a:ext uri="{FF2B5EF4-FFF2-40B4-BE49-F238E27FC236}">
                <a16:creationId xmlns:a16="http://schemas.microsoft.com/office/drawing/2014/main" id="{908D2CC2-1EBF-464E-B1E0-FF11CCFE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19050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1" name="flow-r-1-title">
            <a:extLst xmlns:a="http://schemas.openxmlformats.org/drawingml/2006/main">
              <a:ext uri="{FF2B5EF4-FFF2-40B4-BE49-F238E27FC236}">
                <a16:creationId xmlns:a16="http://schemas.microsoft.com/office/drawing/2014/main" id="{4B1FFBCC-A963-4FD5-A76E-ABC043AF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369" y="1905000"/>
            <a:ext cx="50387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误提交风险</a:t>
            </a:r>
          </a:p>
        </p:txBody>
      </p:sp>
      <p:sp>
        <p:nvSpPr>
          <p:cNvPr id="22" name="flow-r-1-desc">
            <a:extLst xmlns:a="http://schemas.openxmlformats.org/drawingml/2006/main">
              <a:ext uri="{FF2B5EF4-FFF2-40B4-BE49-F238E27FC236}">
                <a16:creationId xmlns:a16="http://schemas.microsoft.com/office/drawing/2014/main" id="{82447E0C-D78B-4BAA-897F-17B1F58C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369" y="2190750"/>
            <a:ext cx="5038725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临时文件/未校验内容入库：提交前 validate_repository.py</a:t>
            </a:r>
          </a:p>
        </p:txBody>
      </p:sp>
      <p:sp>
        <p:nvSpPr>
          <p:cNvPr id="23" name="flow-r-2-chip">
            <a:extLst xmlns:a="http://schemas.openxmlformats.org/drawingml/2006/main">
              <a:ext uri="{FF2B5EF4-FFF2-40B4-BE49-F238E27FC236}">
                <a16:creationId xmlns:a16="http://schemas.microsoft.com/office/drawing/2014/main" id="{2B224E36-BD27-4DE3-A3B1-C7D3AA0B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338137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flow-r-2-no">
            <a:extLst xmlns:a="http://schemas.openxmlformats.org/drawingml/2006/main">
              <a:ext uri="{FF2B5EF4-FFF2-40B4-BE49-F238E27FC236}">
                <a16:creationId xmlns:a16="http://schemas.microsoft.com/office/drawing/2014/main" id="{B9223E86-ED77-4C07-85A2-EE270828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33813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5" name="flow-r-2-title">
            <a:extLst xmlns:a="http://schemas.openxmlformats.org/drawingml/2006/main">
              <a:ext uri="{FF2B5EF4-FFF2-40B4-BE49-F238E27FC236}">
                <a16:creationId xmlns:a16="http://schemas.microsoft.com/office/drawing/2014/main" id="{3ED0A1B7-6B38-4B3D-A836-D3D10B9B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369" y="3381375"/>
            <a:ext cx="50387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知识滞后</a:t>
            </a:r>
          </a:p>
        </p:txBody>
      </p:sp>
      <p:sp>
        <p:nvSpPr>
          <p:cNvPr id="26" name="flow-r-2-desc">
            <a:extLst xmlns:a="http://schemas.openxmlformats.org/drawingml/2006/main">
              <a:ext uri="{FF2B5EF4-FFF2-40B4-BE49-F238E27FC236}">
                <a16:creationId xmlns:a16="http://schemas.microsoft.com/office/drawing/2014/main" id="{374A8EB7-CA62-4DED-875C-3334DC4D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369" y="3667125"/>
            <a:ext cx="5038725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换人后重新交代背景：每轮结束更新项目记忆，降低交接成本</a:t>
            </a:r>
          </a:p>
        </p:txBody>
      </p:sp>
      <p:sp>
        <p:nvSpPr>
          <p:cNvPr id="27" name="flow-r-3-chip">
            <a:extLst xmlns:a="http://schemas.openxmlformats.org/drawingml/2006/main">
              <a:ext uri="{FF2B5EF4-FFF2-40B4-BE49-F238E27FC236}">
                <a16:creationId xmlns:a16="http://schemas.microsoft.com/office/drawing/2014/main" id="{6B79F3C8-400E-4D5A-8D10-7BEBAAAF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48577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flow-r-3-no">
            <a:extLst xmlns:a="http://schemas.openxmlformats.org/drawingml/2006/main">
              <a:ext uri="{FF2B5EF4-FFF2-40B4-BE49-F238E27FC236}">
                <a16:creationId xmlns:a16="http://schemas.microsoft.com/office/drawing/2014/main" id="{4F0FB755-70B4-40D5-A1D9-221AB7F7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485775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9" name="flow-r-3-title">
            <a:extLst xmlns:a="http://schemas.openxmlformats.org/drawingml/2006/main">
              <a:ext uri="{FF2B5EF4-FFF2-40B4-BE49-F238E27FC236}">
                <a16:creationId xmlns:a16="http://schemas.microsoft.com/office/drawing/2014/main" id="{F1E0CB77-5E00-485E-9F96-597FAB23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369" y="4857750"/>
            <a:ext cx="50387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脚本重复</a:t>
            </a:r>
          </a:p>
        </p:txBody>
      </p:sp>
      <p:sp>
        <p:nvSpPr>
          <p:cNvPr id="30" name="flow-r-3-desc">
            <a:extLst xmlns:a="http://schemas.openxmlformats.org/drawingml/2006/main">
              <a:ext uri="{FF2B5EF4-FFF2-40B4-BE49-F238E27FC236}">
                <a16:creationId xmlns:a16="http://schemas.microsoft.com/office/drawing/2014/main" id="{F6E16650-EE09-4B04-A895-D2896D00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369" y="5143500"/>
            <a:ext cx="5038725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个人脚本散落各处：收敛到 工具/ 目录并登记用途</a:t>
            </a:r>
          </a:p>
        </p:txBody>
      </p:sp>
      <p:sp>
        <p:nvSpPr>
          <p:cNvPr id="31" name="flow-note">
            <a:extLst xmlns:a="http://schemas.openxmlformats.org/drawingml/2006/main">
              <a:ext uri="{FF2B5EF4-FFF2-40B4-BE49-F238E27FC236}">
                <a16:creationId xmlns:a16="http://schemas.microsoft.com/office/drawing/2014/main" id="{0388BCD4-3CB2-4990-B401-BB40331B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038850"/>
            <a:ext cx="1140142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770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97706"/>
                </a:solidFill>
                <a:latin typeface="Helvetica Neue"/>
                <a:ea typeface="Helvetica Neue"/>
                <a:cs typeface="Helvetica Neue"/>
              </a:rPr>
              <a:t>优化原则：所有改动都可复算、可追溯、可交接，先解决冲突与歧义</a:t>
            </a:r>
          </a:p>
        </p:txBody>
      </p:sp>
    </p:spTree>
    <p:extLst>
      <p:ext uri="{BB962C8B-B14F-4D97-AF65-F5344CB8AC3E}">
        <p14:creationId xmlns:p14="http://schemas.microsoft.com/office/powerpoint/2010/main" val="167193462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11">
            <a:extLst xmlns:a="http://schemas.openxmlformats.org/drawingml/2006/main">
              <a:ext uri="{FF2B5EF4-FFF2-40B4-BE49-F238E27FC236}">
                <a16:creationId xmlns:a16="http://schemas.microsoft.com/office/drawing/2014/main" id="{E2A5DDF8-26CF-4197-82D8-97DA84C9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5750"/>
            <a:ext cx="5334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t>实操示例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3F151172-410F-4734-A759-8319FFC9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71500"/>
            <a:ext cx="11404568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示例二：新功能也要先落成配表</a:t>
            </a:r>
          </a:p>
        </p:txBody>
      </p:sp>
      <p:sp>
        <p:nvSpPr>
          <p:cNvPr id="3" name="rule-11">
            <a:extLst xmlns:a="http://schemas.openxmlformats.org/drawingml/2006/main">
              <a:ext uri="{FF2B5EF4-FFF2-40B4-BE49-F238E27FC236}">
                <a16:creationId xmlns:a16="http://schemas.microsoft.com/office/drawing/2014/main" id="{D634831D-069F-4483-AECE-26C72F1B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11404568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accent-11">
            <a:extLst xmlns:a="http://schemas.openxmlformats.org/drawingml/2006/main">
              <a:ext uri="{FF2B5EF4-FFF2-40B4-BE49-F238E27FC236}">
                <a16:creationId xmlns:a16="http://schemas.microsoft.com/office/drawing/2014/main" id="{894ECC1F-E7BE-4C3E-B0CD-1E46C869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47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footer-left-11">
            <a:extLst xmlns:a="http://schemas.openxmlformats.org/drawingml/2006/main">
              <a:ext uri="{FF2B5EF4-FFF2-40B4-BE49-F238E27FC236}">
                <a16:creationId xmlns:a16="http://schemas.microsoft.com/office/drawing/2014/main" id="{0E57E2F5-A539-48D5-9866-7EF1B9F1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96050"/>
            <a:ext cx="419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t>CR 数值策划资源库 · 使用说明</a:t>
            </a:r>
          </a:p>
        </p:txBody>
      </p:sp>
      <p:sp>
        <p:nvSpPr>
          <p:cNvPr id="6" name="footer-right-11">
            <a:extLst xmlns:a="http://schemas.openxmlformats.org/drawingml/2006/main">
              <a:ext uri="{FF2B5EF4-FFF2-40B4-BE49-F238E27FC236}">
                <a16:creationId xmlns:a16="http://schemas.microsoft.com/office/drawing/2014/main" id="{1B845C13-85C9-4933-B2EA-97B7F4EA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438900"/>
            <a:ext cx="518922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7" name="feature-panel">
            <a:extLst xmlns:a="http://schemas.openxmlformats.org/drawingml/2006/main">
              <a:ext uri="{FF2B5EF4-FFF2-40B4-BE49-F238E27FC236}">
                <a16:creationId xmlns:a16="http://schemas.microsoft.com/office/drawing/2014/main" id="{DFBA32E5-5651-4659-82AB-89DA0B33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05000"/>
            <a:ext cx="11404568" cy="3810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eature-label">
            <a:extLst xmlns:a="http://schemas.openxmlformats.org/drawingml/2006/main">
              <a:ext uri="{FF2B5EF4-FFF2-40B4-BE49-F238E27FC236}">
                <a16:creationId xmlns:a16="http://schemas.microsoft.com/office/drawing/2014/main" id="{0EE17C7A-2426-41A5-8326-B7800493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190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93C5FD"/>
                </a:solidFill>
                <a:latin typeface="Helvetica Neue"/>
                <a:ea typeface="Helvetica Neue"/>
                <a:cs typeface="Helvetica Neue"/>
              </a:defRPr>
            </a:pPr>
            <a:r>
              <a:t>需求原文</a:t>
            </a:r>
          </a:p>
        </p:txBody>
      </p:sp>
      <p:sp>
        <p:nvSpPr>
          <p:cNvPr id="9" name="feature-body">
            <a:extLst xmlns:a="http://schemas.openxmlformats.org/drawingml/2006/main">
              <a:ext uri="{FF2B5EF4-FFF2-40B4-BE49-F238E27FC236}">
                <a16:creationId xmlns:a16="http://schemas.microsoft.com/office/drawing/2014/main" id="{2F4473BD-67F9-4EAA-AFF8-D70EDE47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108585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在现有老虎机系统上新增“连胜奖励”：连续中奖达到 3 / 5 / 8 / 12 次时，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按当前 Bet 的固定倍率发放额外金币。需要设计配套配置表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（档位、倍率、上限、重置规则），产出表结构说明并新增到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程序配置导出快照，最终提交 dev SVN 附证据。</a:t>
            </a:r>
          </a:p>
        </p:txBody>
      </p:sp>
      <p:sp>
        <p:nvSpPr>
          <p:cNvPr id="10" name="feature-tag-1-bg">
            <a:extLst xmlns:a="http://schemas.openxmlformats.org/drawingml/2006/main">
              <a:ext uri="{FF2B5EF4-FFF2-40B4-BE49-F238E27FC236}">
                <a16:creationId xmlns:a16="http://schemas.microsoft.com/office/drawing/2014/main" id="{372433F5-A391-4B83-8DB9-5D20DEC3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feature-tag-1-text">
            <a:extLst xmlns:a="http://schemas.openxmlformats.org/drawingml/2006/main">
              <a:ext uri="{FF2B5EF4-FFF2-40B4-BE49-F238E27FC236}">
                <a16:creationId xmlns:a16="http://schemas.microsoft.com/office/drawing/2014/main" id="{83BBD236-8EEA-4954-82DC-51F37C12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3086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E0F2FE"/>
                </a:solidFill>
                <a:latin typeface="Helvetica Neue"/>
                <a:ea typeface="Helvetica Neue"/>
                <a:cs typeface="Helvetica Neue"/>
              </a:defRPr>
            </a:pPr>
            <a:r>
              <a:t>新表（示例命名）：SlotsWinStreak</a:t>
            </a:r>
          </a:p>
        </p:txBody>
      </p:sp>
      <p:sp>
        <p:nvSpPr>
          <p:cNvPr id="12" name="feature-tag-2-bg">
            <a:extLst xmlns:a="http://schemas.openxmlformats.org/drawingml/2006/main">
              <a:ext uri="{FF2B5EF4-FFF2-40B4-BE49-F238E27FC236}">
                <a16:creationId xmlns:a16="http://schemas.microsoft.com/office/drawing/2014/main" id="{3289A744-52E6-4B24-82B4-8F1D28D5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19700"/>
            <a:ext cx="285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feature-tag-2-text">
            <a:extLst xmlns:a="http://schemas.openxmlformats.org/drawingml/2006/main">
              <a:ext uri="{FF2B5EF4-FFF2-40B4-BE49-F238E27FC236}">
                <a16:creationId xmlns:a16="http://schemas.microsoft.com/office/drawing/2014/main" id="{180FEFFE-70D7-468F-A7D5-FAAA36F0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19700"/>
            <a:ext cx="2514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FEF3C7"/>
                </a:solidFill>
                <a:latin typeface="Helvetica Neue"/>
                <a:ea typeface="Helvetica Neue"/>
                <a:cs typeface="Helvetica Neue"/>
              </a:defRPr>
            </a:pPr>
            <a:r>
              <a:t>字段：档位 / 倍率 / 上限 / 重置</a:t>
            </a:r>
          </a:p>
        </p:txBody>
      </p:sp>
      <p:sp>
        <p:nvSpPr>
          <p:cNvPr id="14" name="feature-tag-3-bg">
            <a:extLst xmlns:a="http://schemas.openxmlformats.org/drawingml/2006/main">
              <a:ext uri="{FF2B5EF4-FFF2-40B4-BE49-F238E27FC236}">
                <a16:creationId xmlns:a16="http://schemas.microsoft.com/office/drawing/2014/main" id="{DCE62070-2568-4693-ADBF-9A442149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19700"/>
            <a:ext cx="4000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feature-tag-3-text">
            <a:extLst xmlns:a="http://schemas.openxmlformats.org/drawingml/2006/main">
              <a:ext uri="{FF2B5EF4-FFF2-40B4-BE49-F238E27FC236}">
                <a16:creationId xmlns:a16="http://schemas.microsoft.com/office/drawing/2014/main" id="{98EA5B31-35BA-45FB-98A6-D8BB434F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219700"/>
            <a:ext cx="3657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D1FAE5"/>
                </a:solidFill>
                <a:latin typeface="Helvetica Neue"/>
                <a:ea typeface="Helvetica Neue"/>
                <a:cs typeface="Helvetica Neue"/>
              </a:defRPr>
            </a:pPr>
            <a:r>
              <a:t>产出表设计 → 落地快照 → 提交 SVN</a:t>
            </a:r>
          </a:p>
        </p:txBody>
      </p:sp>
    </p:spTree>
    <p:extLst>
      <p:ext uri="{BB962C8B-B14F-4D97-AF65-F5344CB8AC3E}">
        <p14:creationId xmlns:p14="http://schemas.microsoft.com/office/powerpoint/2010/main" val="1967749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6D82F9DB-F7D7-4E15-A13B-49B97EAE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914400"/>
            <a:ext cx="3810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3C5FD"/>
                </a:solidFill>
                <a:latin typeface="Helvetica Neue"/>
                <a:ea typeface="Helvetica Neue"/>
                <a:cs typeface="Helvetica Neue"/>
              </a:defRPr>
            </a:pPr>
            <a:r>
              <a:t>下一步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EA0ED49E-918B-4F2A-B540-AB6A7B0C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19250"/>
            <a:ext cx="10953750" cy="2476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关键结论都会进项目记忆</a:t>
            </a:r>
          </a:p>
        </p:txBody>
      </p:sp>
      <p:sp>
        <p:nvSpPr>
          <p:cNvPr id="3" name="close-bar">
            <a:extLst xmlns:a="http://schemas.openxmlformats.org/drawingml/2006/main">
              <a:ext uri="{FF2B5EF4-FFF2-40B4-BE49-F238E27FC236}">
                <a16:creationId xmlns:a16="http://schemas.microsoft.com/office/drawing/2014/main" id="{FE072AA8-0252-46DD-BA68-832FD410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419600"/>
            <a:ext cx="1333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close-sub">
            <a:extLst xmlns:a="http://schemas.openxmlformats.org/drawingml/2006/main">
              <a:ext uri="{FF2B5EF4-FFF2-40B4-BE49-F238E27FC236}">
                <a16:creationId xmlns:a16="http://schemas.microsoft.com/office/drawing/2014/main" id="{49702CA8-B01F-47F5-8647-50868928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14900"/>
            <a:ext cx="104775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t>每轮完成的新口径、命令、待确认项自动写入 数值策划/知识库/项目记忆.md；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t>换工具、换模型、任务再长都能无损续接。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t>打开 00_规范/数值体验需求话术模板.md，开始你的第一个需求。</a:t>
            </a:r>
          </a:p>
        </p:txBody>
      </p:sp>
      <p:sp>
        <p:nvSpPr>
          <p:cNvPr id="5" name="footer-14">
            <a:extLst xmlns:a="http://schemas.openxmlformats.org/drawingml/2006/main">
              <a:ext uri="{FF2B5EF4-FFF2-40B4-BE49-F238E27FC236}">
                <a16:creationId xmlns:a16="http://schemas.microsoft.com/office/drawing/2014/main" id="{8BD978B9-707E-48D9-A7BB-E0152C55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438900"/>
            <a:ext cx="518922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5978335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6D82F9DB-F7D7-4E15-A13B-49B97EAE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914400"/>
            <a:ext cx="3810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3C5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93C5FD"/>
                </a:solidFill>
                <a:latin typeface="Helvetica Neue"/>
                <a:ea typeface="Helvetica Neue"/>
                <a:cs typeface="Helvetica Neue"/>
              </a:rPr>
              <a:t>结束语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EA0ED49E-918B-4F2A-B540-AB6A7B0C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19250"/>
            <a:ext cx="10953750" cy="2476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谢谢观看</a:t>
            </a:r>
          </a:p>
        </p:txBody>
      </p:sp>
      <p:sp>
        <p:nvSpPr>
          <p:cNvPr id="3" name="close-bar">
            <a:extLst xmlns:a="http://schemas.openxmlformats.org/drawingml/2006/main">
              <a:ext uri="{FF2B5EF4-FFF2-40B4-BE49-F238E27FC236}">
                <a16:creationId xmlns:a16="http://schemas.microsoft.com/office/drawing/2014/main" id="{FE072AA8-0252-46DD-BA68-832FD410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419600"/>
            <a:ext cx="1333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close-sub">
            <a:extLst xmlns:a="http://schemas.openxmlformats.org/drawingml/2006/main">
              <a:ext uri="{FF2B5EF4-FFF2-40B4-BE49-F238E27FC236}">
                <a16:creationId xmlns:a16="http://schemas.microsoft.com/office/drawing/2014/main" id="{49702CA8-B01F-47F5-8647-50868928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14900"/>
            <a:ext cx="104775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欢迎把使用中的卡点、建议和可优化项写进 数值策划/知识库/项目记忆.md，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让资源库越用越好用，也让这份说明持续贴近实战。</a:t>
            </a:r>
          </a:p>
        </p:txBody>
      </p:sp>
      <p:sp>
        <p:nvSpPr>
          <p:cNvPr id="5" name="footer-14">
            <a:extLst xmlns:a="http://schemas.openxmlformats.org/drawingml/2006/main">
              <a:ext uri="{FF2B5EF4-FFF2-40B4-BE49-F238E27FC236}">
                <a16:creationId xmlns:a16="http://schemas.microsoft.com/office/drawing/2014/main" id="{8BD978B9-707E-48D9-A7BB-E0152C55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438900"/>
            <a:ext cx="518922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597833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2026-08-11T07:27:28.5620000Z</dcterms:created>
  <dcterms:modified xsi:type="dcterms:W3CDTF">2026-08-11T07:27:28.5620000Z</dcterms:modified>
</coreProperties>
</file>